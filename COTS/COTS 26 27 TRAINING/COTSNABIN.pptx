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5"/>
    <p:sldId id="309" r:id="rId6"/>
    <p:sldId id="257" r:id="rId7"/>
    <p:sldId id="331" r:id="rId8"/>
    <p:sldId id="330" r:id="rId9"/>
    <p:sldId id="323" r:id="rId10"/>
    <p:sldId id="299" r:id="rId11"/>
    <p:sldId id="300" r:id="rId12"/>
    <p:sldId id="322" r:id="rId13"/>
    <p:sldId id="321" r:id="rId14"/>
    <p:sldId id="320" r:id="rId15"/>
    <p:sldId id="301" r:id="rId16"/>
    <p:sldId id="319" r:id="rId17"/>
    <p:sldId id="318" r:id="rId18"/>
    <p:sldId id="317" r:id="rId19"/>
    <p:sldId id="302" r:id="rId20"/>
    <p:sldId id="314" r:id="rId21"/>
    <p:sldId id="316" r:id="rId22"/>
    <p:sldId id="315" r:id="rId23"/>
    <p:sldId id="303" r:id="rId24"/>
    <p:sldId id="310" r:id="rId25"/>
    <p:sldId id="313" r:id="rId26"/>
    <p:sldId id="311" r:id="rId27"/>
    <p:sldId id="312" r:id="rId28"/>
    <p:sldId id="324" r:id="rId29"/>
    <p:sldId id="326" r:id="rId30"/>
    <p:sldId id="325" r:id="rId31"/>
    <p:sldId id="327" r:id="rId32"/>
    <p:sldId id="328" r:id="rId33"/>
    <p:sldId id="329" r:id="rId34"/>
    <p:sldId id="297" r:id="rId35"/>
    <p:sldId id="306" r:id="rId36"/>
    <p:sldId id="29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8BF93-27DE-0114-41B4-4137B39ECB59}" v="23" dt="2025-05-27T05:38:27.401"/>
    <p1510:client id="{89761FE5-F86C-F717-F416-1F52B9C0E2C3}" v="303" dt="2025-05-28T09:40:46.112"/>
    <p1510:client id="{89E2FDCD-BF23-2EB2-233A-74DF9B4CFBA6}" v="37" dt="2025-05-28T04:43:06.211"/>
    <p1510:client id="{C96E506E-5C6A-9BF7-6B62-9D7A1D443D0F}" v="89" dt="2025-05-27T05:29:29.215"/>
    <p1510:client id="{E8C178A0-BBCF-D1D2-3EC0-E8FB4A31773B}" v="128" dt="2025-05-28T06:03:38.569"/>
    <p1510:client id="{E9228B3E-A32E-0627-2701-2743BC2934A4}" v="532" dt="2025-05-28T07:24:53.997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3564B-194D-F6A9-5911-2C59D8FF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BA9DB-9F30-5A84-B8E1-30E988AD7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17125-AC12-27D6-5BB5-E9C137B31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55191-BF21-3E4F-0405-48F4C95BB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81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17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2A38-D2A8-35EB-09FD-5F69E185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D3D39-9201-5DB7-EE2E-77C8CA188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F8EBB-7220-1934-98EA-0B65210A9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DD553-5065-044B-FCA8-65A4F3C8E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19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26C3-35F1-F259-69C4-69E251E9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8F87C-6417-F1F0-90F1-02FBD8483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69CF4-F51C-010B-6765-993DF42D1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E995E-A30F-54D7-981B-6815D1DB2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AE75-9ED6-FA48-AEDC-11CAC760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3C117-F6E4-BA85-DDB6-7605F7CAA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8249C-DD56-5CBD-C443-6BA19E17E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40C04-4185-C112-F48F-C44AD2BD7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23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97101-2860-A1B8-1552-02029589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D367D-0769-5F4E-B984-78787F8C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5B8BC-EAAA-F12A-D971-1C672861A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C7D4A-6440-6781-7A7E-FE172C712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97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00CC-04E8-B3C0-5C25-83BFE8A9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634E0-CBA6-9482-B53C-D884A59A3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9A398-314A-AA02-86FC-04E2D7D93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CBE2-0418-7EB3-CCB6-42CD9296E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4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3029-7524-624F-96C2-E8F45DF4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BA400-4B79-8DC7-3CF4-395A22DCF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3D2C7-5ABC-78A7-491F-D53051D73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2DD57-D609-2CCD-F105-3B9667641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53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8A9D-BDF8-5172-2E24-32B24A0C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945EF-56ED-3DA7-655F-DA9A20BAD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D2D07-46C1-B9E6-B032-707D73F58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286DE-7325-BF21-C271-79575493F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0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9C59-B214-5053-50F3-666BA83C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6D0F1-8706-7C2D-87E5-FD50B2E8E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B15D6-2BD7-660C-3DEA-23DEB688A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532AA-B665-4B66-2A06-6AECAF931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6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29BA-0D9C-B3CF-FAEC-A5CAA5C2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FD608-B65D-C27F-9FF7-06187C397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DDFA7-D0D9-3A36-4FB8-B0075FE6D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A7CD7-1998-EEBE-980A-0D518B6C9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2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7F4A3-614B-C3E5-021D-B2AFB24F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D3C49-2FF8-C9F4-7734-AE2F3A316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2CFC9-9A23-C3FE-121D-A2B3C88B6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18454-CC9C-BE19-40F2-5F601B4BC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81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F0AC-D404-8E07-8642-24511A4C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96F30-C15B-F61F-FEF9-884E66970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5EC75-2514-2EDA-9E7A-BCD8A570C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C9335-AF21-6A57-5C24-D54B93B31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88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3103-9B9D-20DD-9085-E7EB5D0F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697BD-7C40-6EA0-4ECB-8996C8BFD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3862F-C212-3A6A-2344-79739556D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620C9-0BF2-A025-C295-48680FCDD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51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63CF-067A-931F-59A9-715BE892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CAFAD-5240-71A0-2DE3-1E8988D90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29722-494A-3A96-0A90-DDB81121C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AD7E8-E8E1-F7D2-0490-0A10B8CE9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16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FF4A-795B-0B06-C90E-EFC4690C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50F42-E54D-8573-F45D-583744EE2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EFDE5-0CF7-0052-3A9F-12327F206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0E139-5298-712E-C3C6-682A7B44E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31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A081-95E8-3264-6F66-D508AB24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9F1C2-73A6-1F45-8A63-010587A6D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C3744-5095-629B-9303-B01BC1137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DD1E4-BE5D-B72C-4C37-5278EEEE2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52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673D-EF60-0E3A-D1E7-A6D79000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5516A-2303-C2BD-6DD4-6DB2E6DDC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8EE79-977A-04A3-0A7E-F64B7D2C6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5C8C7-B817-C5D7-5777-79F41BDB4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17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BEDA-365B-AD8C-2B5F-8D910B53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AEA81-5BAC-4F91-AA14-75B607E35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E827C-7B08-C299-39DB-ABF138C9C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B997-0847-338F-4777-C0A80E956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15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2D890-430E-97BA-DD1B-0042A6B5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D57B6-ED93-13FF-F24D-AC29EA63F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5903B-3807-7D86-160C-80748075E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1115C-1338-6649-60EC-CC84D300E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473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F200-F697-4DAA-BCCB-CA559F19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1F48D-D784-9624-287D-89A280567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DEF3D-B8FE-20B8-620C-97FA0A693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1EA3F-BF6A-E53F-D513-C3F148065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91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878-4808-1CA9-7B4E-EC4F35EF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BCDCD-F733-F3ED-7B3D-BCE147440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6DC86-600A-3E8C-28D8-3D30F10B3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8F685-49B9-EDEA-6A7B-3F17A3CEB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45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B091-34BC-A640-FC22-8C00AB02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CABC2-2C92-9C88-FE83-EC8A061FF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86175-D2E4-C698-A86E-2D2A9AB3E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436AA-F458-4B34-FD42-68F6A2EFE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897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B54B-8A1F-EFFD-128A-08BDEC1F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345CA-2645-45A2-F9CB-52F8DE53B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CFAD0-EBF5-04F1-EC5D-A546BCE43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854C0-6264-C8E7-DFF1-68EE8F993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214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CE41-4098-6917-68BC-15856CABB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9AEA3-25DF-CD09-E59B-C55F0BB8E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B29EF-48DC-3D64-B540-7CA76A66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6433C-1A78-E334-BAB7-BB3A360B9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24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0BD31-22AE-4E5F-132F-689C7649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3C787-7DF0-E79D-0F9D-C227AF088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621B6-4A48-9562-F7B5-F2279D734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03387-9D17-F25C-AD68-BA02B7277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315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82CA-4451-B4E2-11BB-93753E2E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C34D8-950F-A5ED-E684-A1EFCD0F4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AC346-0D22-153B-F9D0-9A0DEB3FF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BF45F-6B82-3919-765E-E08FA4894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146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26BFA-80E9-433E-83A1-06F8C165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37F6F-7711-E715-521F-9A91669ED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F6D4C-7603-1C7F-0E25-4F43B80C7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7C85F-990D-B1C2-D148-AAAC051CB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183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596" y="269784"/>
            <a:ext cx="7988328" cy="3830130"/>
          </a:xfrm>
        </p:spPr>
        <p:txBody>
          <a:bodyPr/>
          <a:lstStyle/>
          <a:p>
            <a:pPr algn="ctr"/>
            <a:r>
              <a:rPr lang="en-US" sz="4400">
                <a:solidFill>
                  <a:srgbClr val="00B050"/>
                </a:solidFill>
                <a:ea typeface="+mj-lt"/>
                <a:cs typeface="+mj-lt"/>
              </a:rPr>
              <a:t>Club Officers Training Seminar</a:t>
            </a:r>
            <a:br>
              <a:rPr lang="en-US" sz="3000">
                <a:ea typeface="+mj-lt"/>
                <a:cs typeface="+mj-lt"/>
              </a:rPr>
            </a:br>
            <a:br>
              <a:rPr lang="en-US" sz="3000">
                <a:ea typeface="+mj-lt"/>
                <a:cs typeface="+mj-lt"/>
              </a:rPr>
            </a:br>
            <a:r>
              <a:rPr lang="en-US" sz="3000">
                <a:solidFill>
                  <a:srgbClr val="00B050"/>
                </a:solidFill>
                <a:latin typeface="LilyUPC"/>
                <a:ea typeface="+mj-lt"/>
                <a:cs typeface="+mj-lt"/>
              </a:rPr>
              <a:t> </a:t>
            </a:r>
            <a:r>
              <a:rPr lang="en-US" sz="9600">
                <a:solidFill>
                  <a:srgbClr val="00B050"/>
                </a:solidFill>
                <a:latin typeface="LilyUPC"/>
                <a:ea typeface="+mj-lt"/>
                <a:cs typeface="+mj-lt"/>
              </a:rPr>
              <a:t>(COTS)</a:t>
            </a:r>
            <a:endParaRPr lang="en-US">
              <a:solidFill>
                <a:srgbClr val="00B050"/>
              </a:solidFill>
              <a:latin typeface="LilyUPC"/>
              <a:cs typeface="LilyUPC"/>
            </a:endParaRPr>
          </a:p>
          <a:p>
            <a:r>
              <a:rPr lang="en-US" sz="3000">
                <a:solidFill>
                  <a:srgbClr val="0070C0"/>
                </a:solidFill>
                <a:ea typeface="+mj-lt"/>
                <a:cs typeface="+mj-lt"/>
              </a:rPr>
              <a:t>#RotaractCOTS2025 #FutureRotaractLeaders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9E9B1-FA0C-093C-F5DB-5E00A8532FCD}"/>
              </a:ext>
            </a:extLst>
          </p:cNvPr>
          <p:cNvSpPr txBox="1"/>
          <p:nvPr/>
        </p:nvSpPr>
        <p:spPr>
          <a:xfrm>
            <a:off x="2426110" y="4761272"/>
            <a:ext cx="7032522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latin typeface="FrankRuehl"/>
                <a:cs typeface="FrankRuehl"/>
              </a:rPr>
              <a:t>📍 CHAKATI KITCHEN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latin typeface="FrankRuehl"/>
                <a:cs typeface="FrankRuehl"/>
              </a:rPr>
              <a:t>📅 July 25, 2026 (Saturday)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latin typeface="FrankRuehl"/>
                <a:cs typeface="FrankRuehl"/>
              </a:rPr>
              <a:t>🕘 11:00 A.M.</a:t>
            </a:r>
            <a:endParaRPr lang="en-US" dirty="0">
              <a:latin typeface="FrankRuehl"/>
              <a:cs typeface="FrankRueh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BEF0-DB20-A5EE-61EA-10797241C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180B-027E-87DE-F9F6-043BB6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US"/>
              <a:t>RTR. NABIN CHALISE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63F13-9AA2-3D0A-29AE-DBA221BEA29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91078" y="2652713"/>
            <a:ext cx="5998174" cy="34369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400" dirty="0">
                <a:ea typeface="+mn-lt"/>
                <a:cs typeface="+mn-lt"/>
              </a:rPr>
              <a:t>BCA student at Manipal University Jaipur.</a:t>
            </a:r>
          </a:p>
          <a:p>
            <a:pPr marL="342900" indent="-342900">
              <a:buChar char="•"/>
            </a:pPr>
            <a:r>
              <a:rPr lang="en-US" sz="2400" dirty="0">
                <a:ea typeface="+mn-lt"/>
                <a:cs typeface="+mn-lt"/>
              </a:rPr>
              <a:t>Secretary (2024-25) and President Elect (2025-26) of the Rotaract Club of Galkot </a:t>
            </a:r>
            <a:r>
              <a:rPr lang="en-US" sz="2400" dirty="0" err="1">
                <a:ea typeface="+mn-lt"/>
                <a:cs typeface="+mn-lt"/>
              </a:rPr>
              <a:t>Baglung</a:t>
            </a:r>
            <a:r>
              <a:rPr lang="en-US" sz="2400" dirty="0">
                <a:ea typeface="+mn-lt"/>
                <a:cs typeface="+mn-lt"/>
              </a:rPr>
              <a:t>. </a:t>
            </a:r>
            <a:endParaRPr lang="en-US" sz="2400" dirty="0"/>
          </a:p>
          <a:p>
            <a:pPr marL="342900" indent="-342900">
              <a:buChar char="•"/>
            </a:pPr>
            <a:r>
              <a:rPr lang="en-US" sz="2400" dirty="0">
                <a:ea typeface="+mn-lt"/>
                <a:cs typeface="+mn-lt"/>
              </a:rPr>
              <a:t>Computer Operator at Galkot Municipality.</a:t>
            </a:r>
            <a:endParaRPr lang="en-US" sz="2400" dirty="0"/>
          </a:p>
          <a:p>
            <a:pPr marL="342900" indent="-342900">
              <a:buChar char="•"/>
            </a:pPr>
            <a:r>
              <a:rPr lang="en-US" sz="2400" dirty="0">
                <a:ea typeface="+mn-lt"/>
                <a:cs typeface="+mn-lt"/>
              </a:rPr>
              <a:t>Passionate about computer science and community service, driven by purpose, discipline, and a clear vision for personal and professional growth.</a:t>
            </a:r>
          </a:p>
          <a:p>
            <a:pPr marL="342900" indent="-342900">
              <a:buChar char="•"/>
            </a:pPr>
            <a:endParaRPr lang="en-US" sz="2400" dirty="0"/>
          </a:p>
        </p:txBody>
      </p:sp>
      <p:pic>
        <p:nvPicPr>
          <p:cNvPr id="25" name="Picture Placeholder 24" descr="A person with a beard and lanyard holding a bag&#10;&#10;AI-generated content may be incorrect.">
            <a:extLst>
              <a:ext uri="{FF2B5EF4-FFF2-40B4-BE49-F238E27FC236}">
                <a16:creationId xmlns:a16="http://schemas.microsoft.com/office/drawing/2014/main" id="{69BE9419-D018-C48A-B23D-B142E160029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>
          <a:xfrm>
            <a:off x="7317920" y="1447800"/>
            <a:ext cx="4214010" cy="4214010"/>
          </a:xfrm>
        </p:spPr>
      </p:pic>
    </p:spTree>
    <p:extLst>
      <p:ext uri="{BB962C8B-B14F-4D97-AF65-F5344CB8AC3E}">
        <p14:creationId xmlns:p14="http://schemas.microsoft.com/office/powerpoint/2010/main" val="108610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06462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Experience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365826"/>
            <a:ext cx="9779182" cy="47326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2025–Present (Computer Operator)</a:t>
            </a:r>
          </a:p>
          <a:p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Galkot Municipality · ICT operations, data management, and system administration.</a:t>
            </a:r>
          </a:p>
          <a:p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2022–2025 (Assistant Employment Officer)</a:t>
            </a:r>
          </a:p>
          <a:p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Galkot Municipality · Employment services, data management, and community outreach.</a:t>
            </a:r>
          </a:p>
          <a:p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2019–2022 (ICT Teacher)</a:t>
            </a:r>
          </a:p>
          <a:p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Galkot Secondary School · Teaching computer science, managing lab infrastructure, and digital literacy.</a:t>
            </a:r>
          </a:p>
          <a:p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2018–2019</a:t>
            </a:r>
            <a:r>
              <a:rPr lang="en-US" sz="2400" b="1" dirty="0">
                <a:solidFill>
                  <a:srgbClr val="0070C0"/>
                </a:solidFill>
                <a:latin typeface="Inter"/>
              </a:rPr>
              <a:t> (Computer Lab Teacher)</a:t>
            </a:r>
          </a:p>
          <a:p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Nawa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Inter"/>
              </a:rPr>
              <a:t>Pravat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 School · Hardware setup, lab instruction, and basic IT training.</a:t>
            </a:r>
          </a:p>
          <a:p>
            <a:r>
              <a:rPr lang="en-US" sz="2400" b="1" dirty="0">
                <a:solidFill>
                  <a:srgbClr val="0070C0"/>
                </a:solidFill>
                <a:latin typeface="Inter"/>
              </a:rPr>
              <a:t>2014–2018 (Basic Level Computer Teacher)</a:t>
            </a:r>
          </a:p>
          <a:p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New Life Boarding Secondary School · Foundation computer education and student mentoring.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06462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MY ROTARACT JOURNEY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365826"/>
            <a:ext cx="9779182" cy="4732664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2020-21</a:t>
            </a:r>
            <a:b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Charter Member, Foundation Committee</a:t>
            </a:r>
          </a:p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2021-22</a:t>
            </a:r>
            <a:b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IT Officer, Club Administration</a:t>
            </a:r>
          </a:p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2022-23</a:t>
            </a:r>
            <a:b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International Service Chair</a:t>
            </a:r>
          </a:p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2023-24</a:t>
            </a:r>
            <a:b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Joint Secretary, Community Service</a:t>
            </a:r>
          </a:p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2024-25</a:t>
            </a:r>
            <a:b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Secretary, Club Administration</a:t>
            </a:r>
          </a:p>
          <a:p>
            <a:pPr algn="l"/>
            <a:endParaRPr lang="en-US" sz="2400" b="1" i="0" dirty="0">
              <a:solidFill>
                <a:srgbClr val="0070C0"/>
              </a:solidFill>
              <a:effectLst/>
              <a:latin typeface="Inter"/>
            </a:endParaRPr>
          </a:p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2025-26</a:t>
            </a:r>
            <a:endParaRPr lang="en-US" sz="2400" b="0" i="0" dirty="0">
              <a:solidFill>
                <a:srgbClr val="0070C0"/>
              </a:solidFill>
              <a:effectLst/>
              <a:latin typeface="Inte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President Elect, Membership Development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Zone XVI, Zonal Social Media Officer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District 3292, Training Team Member</a:t>
            </a:r>
          </a:p>
          <a:p>
            <a:r>
              <a:rPr lang="en-US" sz="2400" b="1" i="0" dirty="0">
                <a:solidFill>
                  <a:srgbClr val="0070C0"/>
                </a:solidFill>
                <a:effectLst/>
                <a:latin typeface="Inter"/>
              </a:rPr>
              <a:t>2026-27</a:t>
            </a:r>
            <a:b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sz="2400" b="0" i="0" dirty="0">
                <a:solidFill>
                  <a:srgbClr val="0070C0"/>
                </a:solidFill>
                <a:effectLst/>
                <a:latin typeface="Inter"/>
              </a:rPr>
              <a:t>President, Club Administration</a:t>
            </a:r>
          </a:p>
          <a:p>
            <a:pPr algn="l"/>
            <a:endParaRPr lang="en-US" sz="2400" b="0" i="0" dirty="0">
              <a:solidFill>
                <a:srgbClr val="0070C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5834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Overview of topics covered: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732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>
              <a:buFont typeface="Wingdings" panose="020B0604020202020204" pitchFamily="34" charset="0"/>
              <a:buChar char="Ø"/>
            </a:pPr>
            <a:r>
              <a:rPr lang="en-US" sz="3600" dirty="0">
                <a:ea typeface="+mn-lt"/>
                <a:cs typeface="+mn-lt"/>
              </a:rPr>
              <a:t>Understanding Club Leadership Roles</a:t>
            </a:r>
            <a:endParaRPr lang="en-US" sz="3600"/>
          </a:p>
          <a:p>
            <a:pPr marL="571500" indent="-571500">
              <a:buFont typeface="Wingdings" panose="020B0604020202020204" pitchFamily="34" charset="0"/>
              <a:buChar char="Ø"/>
            </a:pPr>
            <a:r>
              <a:rPr lang="en-US" sz="3600" dirty="0">
                <a:ea typeface="+mn-lt"/>
                <a:cs typeface="+mn-lt"/>
              </a:rPr>
              <a:t>Strategic Planning and Goal Setting</a:t>
            </a:r>
            <a:endParaRPr lang="en-US" sz="3600"/>
          </a:p>
          <a:p>
            <a:pPr marL="571500" indent="-571500">
              <a:buFont typeface="Wingdings" panose="020B0604020202020204" pitchFamily="34" charset="0"/>
              <a:buChar char="Ø"/>
            </a:pPr>
            <a:r>
              <a:rPr lang="en-US" sz="3600" dirty="0">
                <a:ea typeface="+mn-lt"/>
                <a:cs typeface="+mn-lt"/>
              </a:rPr>
              <a:t>Effective Club Administration</a:t>
            </a:r>
            <a:endParaRPr lang="en-US" sz="3600"/>
          </a:p>
          <a:p>
            <a:pPr marL="571500" indent="-571500">
              <a:buFont typeface="Wingdings" panose="020B0604020202020204" pitchFamily="34" charset="0"/>
              <a:buChar char="Ø"/>
            </a:pPr>
            <a:r>
              <a:rPr lang="en-US" sz="3600" dirty="0">
                <a:ea typeface="+mn-lt"/>
                <a:cs typeface="+mn-lt"/>
              </a:rPr>
              <a:t>Membership Growth and Retention</a:t>
            </a:r>
            <a:endParaRPr lang="en-US" sz="3600"/>
          </a:p>
          <a:p>
            <a:pPr marL="571500" indent="-571500">
              <a:buFont typeface="Wingdings" panose="020B0604020202020204" pitchFamily="34" charset="0"/>
              <a:buChar char="Ø"/>
            </a:pPr>
            <a:r>
              <a:rPr lang="en-US" sz="3600" dirty="0">
                <a:ea typeface="+mn-lt"/>
                <a:cs typeface="+mn-lt"/>
              </a:rPr>
              <a:t>Community Service and Project Management</a:t>
            </a:r>
          </a:p>
          <a:p>
            <a:pPr marL="571500" indent="-571500">
              <a:buFont typeface="Wingdings" panose="020B0604020202020204" pitchFamily="34" charset="0"/>
              <a:buChar char="Ø"/>
            </a:pPr>
            <a:r>
              <a:rPr lang="en-US" sz="3600" dirty="0"/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52089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D008-80C3-7E94-F895-2D8F0231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626EB2-9796-E1E2-692B-DEA6CCC8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775" y="3308745"/>
            <a:ext cx="9779183" cy="1600835"/>
          </a:xfrm>
        </p:spPr>
        <p:txBody>
          <a:bodyPr/>
          <a:lstStyle/>
          <a:p>
            <a:pPr algn="ctr"/>
            <a:r>
              <a:rPr lang="en-US" sz="9600">
                <a:solidFill>
                  <a:srgbClr val="000000"/>
                </a:solidFill>
                <a:ea typeface="+mj-lt"/>
                <a:cs typeface="+mj-lt"/>
              </a:rPr>
              <a:t>Understanding Club Leadership Roles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95487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F068-CB9C-2537-5E3B-D9D7DFD0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F453CE-0B9A-4BEC-DE1E-77FFC2F3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Understanding Club Leadership Roles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7271-B509-1832-869C-B085656553E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en-US">
              <a:ea typeface="+mn-lt"/>
              <a:cs typeface="+mn-lt"/>
            </a:endParaRPr>
          </a:p>
          <a:p>
            <a:pPr indent="-283210"/>
            <a:r>
              <a:rPr lang="en-US" dirty="0">
                <a:ea typeface="+mn-lt"/>
                <a:cs typeface="+mn-lt"/>
              </a:rPr>
              <a:t>We have another slide for this. </a:t>
            </a:r>
            <a:endParaRPr lang="en-US" dirty="0"/>
          </a:p>
          <a:p>
            <a:pPr indent="-283210"/>
            <a:endParaRPr lang="en-US"/>
          </a:p>
          <a:p>
            <a:pPr indent="-28321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6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43D3-DE1A-691F-5686-505F6335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7690E6-8C57-9151-68E6-5089C4E11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624" y="4688972"/>
            <a:ext cx="9779183" cy="1600835"/>
          </a:xfrm>
        </p:spPr>
        <p:txBody>
          <a:bodyPr/>
          <a:lstStyle/>
          <a:p>
            <a:r>
              <a:rPr lang="en-US" sz="9600">
                <a:solidFill>
                  <a:srgbClr val="000000"/>
                </a:solidFill>
                <a:ea typeface="+mj-lt"/>
                <a:cs typeface="+mj-lt"/>
              </a:rPr>
              <a:t>Strategic Planning and Goal Setting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55182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EFBB-47E1-FEC8-09E0-4DF33E79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8B8641-4568-2727-5661-F32642345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✅ 1. SMART Goal Setting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1CEE-CA2B-A2A3-3DFE-F5E3DAD645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Set Specific, Measurable, Achievable, Relevant &amp; Time-bound goals for each avenue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Plan monthly targets and review progress regularly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79843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DF46-F57B-BCB2-26AE-C837C4B5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08B8F5-3532-818B-36FA-D0D99D6A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🛠 2. Use of Planning 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F5F39-CB62-8BCB-0A71-70177CD9FC4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Track your club goals and reports; </a:t>
            </a:r>
            <a:r>
              <a:rPr lang="en-US" sz="3200" err="1">
                <a:ea typeface="+mn-lt"/>
                <a:cs typeface="+mn-lt"/>
              </a:rPr>
              <a:t>MyRotaract</a:t>
            </a:r>
            <a:r>
              <a:rPr lang="en-US" sz="3200">
                <a:ea typeface="+mn-lt"/>
                <a:cs typeface="+mn-lt"/>
              </a:rPr>
              <a:t> to manages events and documents; Google Sheets enables shared, live tracking and collaboration for all members.</a:t>
            </a:r>
          </a:p>
          <a:p>
            <a:pPr indent="-283210"/>
            <a:endParaRPr lang="en-US"/>
          </a:p>
          <a:p>
            <a:pPr indent="-283210"/>
            <a:r>
              <a:rPr lang="en-US" sz="3200">
                <a:ea typeface="+mn-lt"/>
                <a:cs typeface="+mn-lt"/>
              </a:rPr>
              <a:t>Share updates regularly via Messenger Group, emails, or WhatsApp; maintain a shared folder for all documents; and encourage open communication to keep members informed and motivated.</a:t>
            </a:r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98658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7EEA-530B-24A6-0F86-1139A41E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DA0171-489A-43D1-5A7C-C4DC0F50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🌍 3. Align with Rotaract Priorities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2C63-EAEB-37DE-87D0-C6166E9646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>
                <a:ea typeface="+mn-lt"/>
                <a:cs typeface="+mn-lt"/>
              </a:rPr>
              <a:t>Ensure all projects align with District 3292 goals and Rotary International’s annual theme.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Focus on Peacebuilding, Disease Prevention, Water &amp; Sanitation, Maternal &amp; Child Health, Education &amp; Literacy, Economic Development, and Environment.</a:t>
            </a:r>
            <a:endParaRPr lang="en-US">
              <a:ea typeface="+mn-lt"/>
              <a:cs typeface="+mn-lt"/>
            </a:endParaRPr>
          </a:p>
          <a:p>
            <a:pPr marL="59690" indent="0">
              <a:buNone/>
            </a:pPr>
            <a:endParaRPr lang="en-US" sz="3200">
              <a:ea typeface="+mn-lt"/>
              <a:cs typeface="+mn-lt"/>
            </a:endParaRPr>
          </a:p>
          <a:p>
            <a:pPr indent="-283210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2442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5127-670E-B7C7-F6E7-EC60F30B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B33D15-B9CE-2947-CB27-560F0774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13" y="4257652"/>
            <a:ext cx="9779183" cy="1600835"/>
          </a:xfrm>
        </p:spPr>
        <p:txBody>
          <a:bodyPr/>
          <a:lstStyle/>
          <a:p>
            <a:pPr algn="ctr"/>
            <a:r>
              <a:rPr lang="en-US" sz="9600">
                <a:solidFill>
                  <a:srgbClr val="000000"/>
                </a:solidFill>
                <a:ea typeface="+mj-lt"/>
                <a:cs typeface="+mj-lt"/>
              </a:rPr>
              <a:t>Effective Club Administration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385060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030E-95B7-8301-FA51-F74AEA32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3C47E2-1310-A50F-8FF6-890780B5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📅 1. Productive Meetings &amp; Records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77723-E644-FE82-FCBF-AB14159B184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Prepare agenda &amp; share before meetings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Start/end on time with clear action points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Maintain MoM (Minutes of Meeting) &amp; attendance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08409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D620-57AD-3221-145B-3FB52B0D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74B25D-DF94-0591-7894-133386E7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98" y="116972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📜 2. Bylaws, Constitution &amp; Compliance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269A-CDB8-BEF2-0983-C0B75AD380D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Follow club bylaws &amp; Rotaract constitution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Ensure officer roles, elections, and policies are followed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Stay updated with district &amp; RI guidelines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425868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B23C-7496-0D52-BEDB-1B3123BD9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7E5AB4-389F-CF7C-1700-B842FF19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📝 3. Reporting &amp; Documentation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B70C-EF3A-B8C8-36A7-CAA1373088C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Submit timely reports on </a:t>
            </a:r>
            <a:r>
              <a:rPr lang="en-US" sz="3200" err="1">
                <a:ea typeface="+mn-lt"/>
                <a:cs typeface="+mn-lt"/>
              </a:rPr>
              <a:t>MyRotaract</a:t>
            </a:r>
            <a:endParaRPr lang="en-US" sz="3200" err="1"/>
          </a:p>
          <a:p>
            <a:pPr indent="-283210"/>
            <a:r>
              <a:rPr lang="en-US" sz="3200">
                <a:ea typeface="+mn-lt"/>
                <a:cs typeface="+mn-lt"/>
              </a:rPr>
              <a:t>Maintain project documents, photos &amp; attendance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Archive important club records systematically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688268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D985-F37B-A125-2D74-0CC762F0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C427A3-B571-DCFA-0BD4-94835DD8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10" y="4033411"/>
            <a:ext cx="9779183" cy="2301383"/>
          </a:xfrm>
        </p:spPr>
        <p:txBody>
          <a:bodyPr/>
          <a:lstStyle/>
          <a:p>
            <a:pPr algn="ctr"/>
            <a:r>
              <a:rPr lang="en-US" sz="9600">
                <a:solidFill>
                  <a:srgbClr val="000000"/>
                </a:solidFill>
                <a:ea typeface="+mj-lt"/>
                <a:cs typeface="+mj-lt"/>
              </a:rPr>
              <a:t>Membership Growth &amp; Retention 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2823779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376C-6A8A-74C7-5663-D07C507A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DDFF7B-8899-1795-6550-404B60A7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🧲 1. Recruiting New Members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7CE4-EBFC-9745-D67A-A9C3E95533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Leverage social media &amp; college outreach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Invite friends to events &amp; orientations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Highlight club impact &amp; leadership opportunities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099879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08E5A-8216-06C6-B734-8A5D1641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BEB2B3-09EA-F618-BE08-A1C00293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🤝 2. Welcoming &amp; Inclusive Culture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C8390-4D83-BECF-E23E-C5F13C9FB38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Assign mentors for new members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Celebrate diversity &amp; encourage open dialogue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Friendly introductions and inclusive event environment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398855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A707-6766-B92D-B75F-8225057A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5E2117-3F27-B2AB-A4B7-AB19ADBC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🚀 3. Engagement, Development &amp; Recognition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6DC8-720F-7CBB-353D-C6A505059BA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3200">
              <a:ea typeface="+mn-lt"/>
              <a:cs typeface="+mn-lt"/>
            </a:endParaRPr>
          </a:p>
          <a:p>
            <a:pPr indent="-283210"/>
            <a:r>
              <a:rPr lang="en-US" sz="3200">
                <a:ea typeface="+mn-lt"/>
                <a:cs typeface="+mn-lt"/>
              </a:rPr>
              <a:t>Skill-building sessions &amp; leadership roles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Regular feedback and involvement in planning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Recognize efforts via “Member of the Month,” shoutouts, certificates.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350309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3343-99B0-754D-BD03-AFED6F24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6DCF6C-7873-426B-58C8-B22FD8C5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73" y="4645840"/>
            <a:ext cx="9779183" cy="1600835"/>
          </a:xfrm>
        </p:spPr>
        <p:txBody>
          <a:bodyPr/>
          <a:lstStyle/>
          <a:p>
            <a:r>
              <a:rPr lang="en-US" sz="9600">
                <a:solidFill>
                  <a:srgbClr val="000000"/>
                </a:solidFill>
                <a:ea typeface="+mj-lt"/>
                <a:cs typeface="+mj-lt"/>
              </a:rPr>
              <a:t>Community Service &amp; Project Management 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3963656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7E2C-720A-5049-01BE-FFDD8B7A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27F6C4-20B1-9C9B-7090-23107D99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96" y="735198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🔍 Identifying Community Needs &amp; Planning Projects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5CC9F-026F-BB21-4F02-737AF7F020D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/>
              <a:t>Talk to locals, survey, observe.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Focus on real problems, not assumptions.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Plan SMART: Specific, Measurable, Achievable, Relevant, Time-bound.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Involve the community from the start.</a:t>
            </a:r>
            <a:endParaRPr lang="en-US" sz="3200"/>
          </a:p>
          <a:p>
            <a:pPr indent="-283210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195461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6EA65-122D-D3F8-977A-522CCA94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D15B29-1C11-DC5D-EF3A-8E63A04E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77" y="533915"/>
            <a:ext cx="9836692" cy="881968"/>
          </a:xfrm>
        </p:spPr>
        <p:txBody>
          <a:bodyPr/>
          <a:lstStyle/>
          <a:p>
            <a:r>
              <a:rPr lang="en-US" sz="3200" b="0">
                <a:solidFill>
                  <a:srgbClr val="000000"/>
                </a:solidFill>
                <a:ea typeface="+mj-lt"/>
                <a:cs typeface="+mj-lt"/>
              </a:rPr>
              <a:t>🎯 SMART Goals – RAC </a:t>
            </a:r>
            <a:r>
              <a:rPr lang="en-US" sz="3200" b="0" err="1">
                <a:solidFill>
                  <a:srgbClr val="000000"/>
                </a:solidFill>
                <a:ea typeface="+mj-lt"/>
                <a:cs typeface="+mj-lt"/>
              </a:rPr>
              <a:t>Galkot</a:t>
            </a:r>
            <a:r>
              <a:rPr lang="en-US" sz="3200" b="0">
                <a:solidFill>
                  <a:srgbClr val="000000"/>
                </a:solidFill>
                <a:ea typeface="+mj-lt"/>
                <a:cs typeface="+mj-lt"/>
              </a:rPr>
              <a:t> </a:t>
            </a:r>
            <a:r>
              <a:rPr lang="en-US" sz="3200" b="0" err="1">
                <a:solidFill>
                  <a:srgbClr val="000000"/>
                </a:solidFill>
                <a:ea typeface="+mj-lt"/>
                <a:cs typeface="+mj-lt"/>
              </a:rPr>
              <a:t>Baglung</a:t>
            </a:r>
            <a:r>
              <a:rPr lang="en-US" sz="3200" b="0">
                <a:solidFill>
                  <a:srgbClr val="000000"/>
                </a:solidFill>
                <a:ea typeface="+mj-lt"/>
                <a:cs typeface="+mj-lt"/>
              </a:rPr>
              <a:t> (2024–25)</a:t>
            </a:r>
            <a:endParaRPr lang="en-US" sz="3200"/>
          </a:p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2EADC4-8ED3-2CAF-2141-B6B00D79A4C9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409183495"/>
              </p:ext>
            </p:extLst>
          </p:nvPr>
        </p:nvGraphicFramePr>
        <p:xfrm>
          <a:off x="476700" y="970562"/>
          <a:ext cx="10724858" cy="566928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1798286">
                  <a:extLst>
                    <a:ext uri="{9D8B030D-6E8A-4147-A177-3AD203B41FA5}">
                      <a16:colId xmlns:a16="http://schemas.microsoft.com/office/drawing/2014/main" val="2693817001"/>
                    </a:ext>
                  </a:extLst>
                </a:gridCol>
                <a:gridCol w="3051640">
                  <a:extLst>
                    <a:ext uri="{9D8B030D-6E8A-4147-A177-3AD203B41FA5}">
                      <a16:colId xmlns:a16="http://schemas.microsoft.com/office/drawing/2014/main" val="722388000"/>
                    </a:ext>
                  </a:extLst>
                </a:gridCol>
                <a:gridCol w="5874932">
                  <a:extLst>
                    <a:ext uri="{9D8B030D-6E8A-4147-A177-3AD203B41FA5}">
                      <a16:colId xmlns:a16="http://schemas.microsoft.com/office/drawing/2014/main" val="367612793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>
                          <a:solidFill>
                            <a:srgbClr val="000000"/>
                          </a:solidFill>
                        </a:rPr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>
                          <a:solidFill>
                            <a:srgbClr val="000000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>
                          <a:solidFill>
                            <a:srgbClr val="000000"/>
                          </a:solidFill>
                        </a:rPr>
                        <a:t>Applied To Club Goals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92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Plan clearly defined goals for each avenue like Membership, Professional Dev., Finance.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68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Measurable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Tracked 38+ projects across 7 avenues with reports submitted on </a:t>
                      </a:r>
                      <a:r>
                        <a:rPr lang="en-US" sz="2400" err="1"/>
                        <a:t>MyRotaract</a:t>
                      </a:r>
                      <a:r>
                        <a:rPr lang="en-US" sz="2400"/>
                        <a:t>™.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2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Achievable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Set realistic goals like 2–3 events per month and met targets in most avenues.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Relevant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Focused on community needs (blood donation, digital detox, financial literacy, AI skills).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239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Time-bound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All goals aligned with Rota Year 2024–25 (July–June), tracked and completed on schedule.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07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654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2F26-7193-F03E-20C3-D5F49512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A2A460-52DE-9BF3-62BC-7FA480F7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🌍 7 Areas of Focus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2614-912F-8C88-1AAC-FB2B66171FD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09581"/>
            <a:ext cx="9780587" cy="3436937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r>
              <a:rPr lang="en-US" sz="3200">
                <a:ea typeface="+mn-lt"/>
                <a:cs typeface="+mn-lt"/>
              </a:rPr>
              <a:t>Peacebuilding: </a:t>
            </a:r>
            <a:r>
              <a:rPr lang="en-US" sz="3200" err="1">
                <a:ea typeface="+mn-lt"/>
                <a:cs typeface="+mn-lt"/>
              </a:rPr>
              <a:t>शान्ति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निर्माण</a:t>
            </a:r>
            <a:r>
              <a:rPr lang="en-US" sz="3200">
                <a:ea typeface="+mn-lt"/>
                <a:cs typeface="+mn-lt"/>
              </a:rPr>
              <a:t> 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Disease Prevention: </a:t>
            </a:r>
            <a:r>
              <a:rPr lang="en-US" sz="3200" err="1">
                <a:ea typeface="+mn-lt"/>
                <a:cs typeface="+mn-lt"/>
              </a:rPr>
              <a:t>रोग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रोकथाम</a:t>
            </a:r>
            <a:r>
              <a:rPr lang="en-US" sz="3200">
                <a:ea typeface="+mn-lt"/>
                <a:cs typeface="+mn-lt"/>
              </a:rPr>
              <a:t> 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Water &amp; Sanitation: </a:t>
            </a:r>
            <a:r>
              <a:rPr lang="en-US" sz="3200" err="1">
                <a:ea typeface="+mn-lt"/>
                <a:cs typeface="+mn-lt"/>
              </a:rPr>
              <a:t>पानी</a:t>
            </a:r>
            <a:r>
              <a:rPr lang="en-US" sz="3200">
                <a:ea typeface="+mn-lt"/>
                <a:cs typeface="+mn-lt"/>
              </a:rPr>
              <a:t>, </a:t>
            </a:r>
            <a:r>
              <a:rPr lang="en-US" sz="3200" err="1">
                <a:ea typeface="+mn-lt"/>
                <a:cs typeface="+mn-lt"/>
              </a:rPr>
              <a:t>सरसफाइ</a:t>
            </a:r>
            <a:r>
              <a:rPr lang="en-US" sz="3200">
                <a:ea typeface="+mn-lt"/>
                <a:cs typeface="+mn-lt"/>
              </a:rPr>
              <a:t> र </a:t>
            </a:r>
            <a:r>
              <a:rPr lang="en-US" sz="3200" err="1">
                <a:ea typeface="+mn-lt"/>
                <a:cs typeface="+mn-lt"/>
              </a:rPr>
              <a:t>स्वच्छता</a:t>
            </a:r>
            <a:endParaRPr lang="en-US" sz="3200" err="1"/>
          </a:p>
          <a:p>
            <a:pPr indent="-283210"/>
            <a:r>
              <a:rPr lang="en-US" sz="3200">
                <a:ea typeface="+mn-lt"/>
                <a:cs typeface="+mn-lt"/>
              </a:rPr>
              <a:t>Maternal &amp; Child Health : </a:t>
            </a:r>
            <a:r>
              <a:rPr lang="en-US" sz="3200" err="1">
                <a:ea typeface="+mn-lt"/>
                <a:cs typeface="+mn-lt"/>
              </a:rPr>
              <a:t>मातृ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तथा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बाल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स्वास्थ्य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Education &amp; Literacy: </a:t>
            </a:r>
            <a:r>
              <a:rPr lang="en-US" sz="3200" err="1">
                <a:ea typeface="+mn-lt"/>
                <a:cs typeface="+mn-lt"/>
              </a:rPr>
              <a:t>शिक्षा</a:t>
            </a:r>
            <a:r>
              <a:rPr lang="en-US" sz="3200">
                <a:ea typeface="+mn-lt"/>
                <a:cs typeface="+mn-lt"/>
              </a:rPr>
              <a:t> र </a:t>
            </a:r>
            <a:r>
              <a:rPr lang="en-US" sz="3200" err="1">
                <a:ea typeface="+mn-lt"/>
                <a:cs typeface="+mn-lt"/>
              </a:rPr>
              <a:t>साक्षरता</a:t>
            </a:r>
            <a:r>
              <a:rPr lang="en-US" sz="3200">
                <a:ea typeface="+mn-lt"/>
                <a:cs typeface="+mn-lt"/>
              </a:rPr>
              <a:t>  </a:t>
            </a:r>
          </a:p>
          <a:p>
            <a:pPr indent="-283210"/>
            <a:r>
              <a:rPr lang="en-US" sz="3200">
                <a:ea typeface="+mn-lt"/>
                <a:cs typeface="+mn-lt"/>
              </a:rPr>
              <a:t>Economic Development: </a:t>
            </a:r>
            <a:r>
              <a:rPr lang="en-US" sz="3200" err="1">
                <a:ea typeface="+mn-lt"/>
                <a:cs typeface="+mn-lt"/>
              </a:rPr>
              <a:t>आर्थिक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तथा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सामुदायिक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विकास</a:t>
            </a:r>
            <a:endParaRPr lang="en-US" sz="3200" err="1"/>
          </a:p>
          <a:p>
            <a:pPr indent="-283210"/>
            <a:r>
              <a:rPr lang="en-US" sz="3200">
                <a:ea typeface="+mn-lt"/>
                <a:cs typeface="+mn-lt"/>
              </a:rPr>
              <a:t>Environment: </a:t>
            </a:r>
            <a:r>
              <a:rPr lang="en-US" sz="3200" err="1">
                <a:ea typeface="+mn-lt"/>
                <a:cs typeface="+mn-lt"/>
              </a:rPr>
              <a:t>वातावरण</a:t>
            </a:r>
            <a:r>
              <a:rPr lang="en-US" sz="3200">
                <a:ea typeface="+mn-lt"/>
                <a:cs typeface="+mn-lt"/>
              </a:rPr>
              <a:t>  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870905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BC248-A36A-3D9A-2E72-CCB68909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E10605-1B04-9D55-1C9E-DA3DB16A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3877"/>
            <a:ext cx="9779183" cy="1600835"/>
          </a:xfrm>
        </p:spPr>
        <p:txBody>
          <a:bodyPr/>
          <a:lstStyle/>
          <a:p>
            <a:r>
              <a:rPr lang="en-US" sz="4800">
                <a:solidFill>
                  <a:srgbClr val="000000"/>
                </a:solidFill>
                <a:ea typeface="+mj-lt"/>
                <a:cs typeface="+mj-lt"/>
              </a:rPr>
              <a:t>📊 Monitoring, Evaluation &amp; Sustainability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72B6-91EE-BD09-7411-26B350568D9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10298171" cy="343693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83210"/>
            <a:r>
              <a:rPr lang="en-US" sz="3200">
                <a:ea typeface="+mn-lt"/>
                <a:cs typeface="+mn-lt"/>
              </a:rPr>
              <a:t>Monitor: Track progress during the project.</a:t>
            </a:r>
          </a:p>
          <a:p>
            <a:pPr marL="850265" lvl="2" indent="-283210">
              <a:buFont typeface="Wingdings" panose="020B0604020202020204" pitchFamily="34" charset="0"/>
              <a:buChar char="§"/>
            </a:pPr>
            <a:r>
              <a:rPr lang="en-US" sz="3200">
                <a:ea typeface="+mn-lt"/>
                <a:cs typeface="+mn-lt"/>
              </a:rPr>
              <a:t>(use checklist, assign roles, keep records)</a:t>
            </a:r>
            <a:endParaRPr lang="en-US" sz="3200"/>
          </a:p>
          <a:p>
            <a:pPr indent="-283210"/>
            <a:r>
              <a:rPr lang="en-US" sz="3200">
                <a:ea typeface="+mn-lt"/>
                <a:cs typeface="+mn-lt"/>
              </a:rPr>
              <a:t>Evaluate: Measure results after completion. </a:t>
            </a:r>
          </a:p>
          <a:p>
            <a:pPr marL="850265" lvl="2" indent="-283210">
              <a:buFont typeface="Wingdings" panose="020B0604020202020204" pitchFamily="34" charset="0"/>
              <a:buChar char="§"/>
            </a:pPr>
            <a:r>
              <a:rPr lang="en-US" sz="3200">
                <a:ea typeface="+mn-lt"/>
                <a:cs typeface="+mn-lt"/>
              </a:rPr>
              <a:t>(Collect feedback and surveys, write a short report) </a:t>
            </a:r>
            <a:endParaRPr lang="en-US"/>
          </a:p>
          <a:p>
            <a:pPr indent="-283210"/>
            <a:r>
              <a:rPr lang="en-US" sz="3200">
                <a:ea typeface="+mn-lt"/>
                <a:cs typeface="+mn-lt"/>
              </a:rPr>
              <a:t>Sustain: Ensure benefits last by involving locals and building long-term systems. </a:t>
            </a:r>
          </a:p>
          <a:p>
            <a:pPr marL="850265" lvl="2" indent="-283210">
              <a:buFont typeface="Wingdings" panose="020B0604020202020204" pitchFamily="34" charset="0"/>
              <a:buChar char="§"/>
            </a:pPr>
            <a:r>
              <a:rPr lang="en-US" sz="3200">
                <a:ea typeface="+mn-lt"/>
                <a:cs typeface="+mn-lt"/>
              </a:rPr>
              <a:t>(Involve and Train Locals, Do follow-ups, Partner with local groups</a:t>
            </a:r>
            <a:r>
              <a:rPr lang="en-US" sz="3200"/>
              <a:t>) </a:t>
            </a:r>
            <a:endParaRPr lang="en-US"/>
          </a:p>
          <a:p>
            <a:pPr indent="-283210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203842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8A2A-BD4B-9973-0D55-9A6308A7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431CB4-2AA2-58EF-829A-26F47E70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699" y="5264066"/>
            <a:ext cx="9779183" cy="1600835"/>
          </a:xfrm>
        </p:spPr>
        <p:txBody>
          <a:bodyPr/>
          <a:lstStyle/>
          <a:p>
            <a:pPr algn="ctr"/>
            <a:r>
              <a:rPr lang="en-US" sz="9600" dirty="0">
                <a:solidFill>
                  <a:srgbClr val="000000"/>
                </a:solidFill>
                <a:ea typeface="+mj-lt"/>
                <a:cs typeface="+mj-lt"/>
              </a:rPr>
              <a:t>🌟 SWOT Analysis of a Club</a:t>
            </a:r>
            <a:endParaRPr lang="en-US" sz="9600" dirty="0"/>
          </a:p>
          <a:p>
            <a:pPr algn="ctr"/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242233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1513-C0A6-6C0D-0A38-4D04D02D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AEB6B9-E9F0-605D-2537-1383D130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57" y="1396557"/>
            <a:ext cx="9779183" cy="4073740"/>
          </a:xfrm>
        </p:spPr>
        <p:txBody>
          <a:bodyPr/>
          <a:lstStyle/>
          <a:p>
            <a:r>
              <a:rPr lang="en-US" sz="6000" dirty="0">
                <a:solidFill>
                  <a:srgbClr val="000000"/>
                </a:solidFill>
                <a:ea typeface="+mj-lt"/>
                <a:cs typeface="+mj-lt"/>
              </a:rPr>
              <a:t>The full form of SWOT is:</a:t>
            </a:r>
            <a:endParaRPr lang="en-US"/>
          </a:p>
          <a:p>
            <a:r>
              <a:rPr lang="en-US" sz="6000" b="0">
                <a:solidFill>
                  <a:srgbClr val="000000"/>
                </a:solidFill>
                <a:ea typeface="+mj-lt"/>
                <a:cs typeface="+mj-lt"/>
              </a:rPr>
              <a:t>S – Strengths</a:t>
            </a:r>
            <a:endParaRPr lang="en-US" sz="6000"/>
          </a:p>
          <a:p>
            <a:r>
              <a:rPr lang="en-US" sz="6000" b="0" dirty="0">
                <a:solidFill>
                  <a:srgbClr val="000000"/>
                </a:solidFill>
                <a:ea typeface="+mj-lt"/>
                <a:cs typeface="+mj-lt"/>
              </a:rPr>
              <a:t>W – Weaknesses</a:t>
            </a:r>
            <a:endParaRPr lang="en-US" sz="6000" dirty="0"/>
          </a:p>
          <a:p>
            <a:r>
              <a:rPr lang="en-US" sz="6000" b="0" dirty="0">
                <a:solidFill>
                  <a:srgbClr val="000000"/>
                </a:solidFill>
                <a:ea typeface="+mj-lt"/>
                <a:cs typeface="+mj-lt"/>
              </a:rPr>
              <a:t>O – Opportunities</a:t>
            </a:r>
            <a:endParaRPr lang="en-US" sz="6000" dirty="0"/>
          </a:p>
          <a:p>
            <a:r>
              <a:rPr lang="en-US" sz="6000" b="0" dirty="0">
                <a:ea typeface="+mj-lt"/>
                <a:cs typeface="+mj-lt"/>
              </a:rPr>
              <a:t>T – Threats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696656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D947-1511-EE15-AFF7-656FE51C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063123-DCB2-C51F-CC6F-A6EB8C9A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3877"/>
            <a:ext cx="9779183" cy="1600835"/>
          </a:xfrm>
        </p:spPr>
        <p:txBody>
          <a:bodyPr/>
          <a:lstStyle/>
          <a:p>
            <a:r>
              <a:rPr lang="en-US" sz="4800" dirty="0">
                <a:solidFill>
                  <a:srgbClr val="000000"/>
                </a:solidFill>
                <a:ea typeface="+mj-lt"/>
                <a:cs typeface="+mj-lt"/>
              </a:rPr>
              <a:t>🔷 Strengths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72B3-D656-511D-9839-D876028172D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9228" y="2135129"/>
            <a:ext cx="10298171" cy="3767616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1600" b="1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Strong leadership and active executive team.</a:t>
            </a:r>
            <a:endParaRPr lang="en-US" sz="2400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Good presence in the local community with recognized branding.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Backed by Rotary International, providing credibility and resources.</a:t>
            </a:r>
            <a:endParaRPr lang="en-US" sz="2400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Diverse membership with youth from various professional and academic backgrounds.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Consistent involvement in social service and impactful community projects.</a:t>
            </a:r>
            <a:endParaRPr lang="en-US" sz="2400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Supportive network with Rotaract District 3292 and other clubs.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Digital presence (e.g., social media) helping with visibility and communication.</a:t>
            </a:r>
            <a:endParaRPr lang="en-US" sz="2400" dirty="0"/>
          </a:p>
          <a:p>
            <a:pPr indent="-28321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6082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F5228-DD83-1BBD-8561-3566D4BF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0FF9CD-502D-C86A-02A3-72E61E51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3877"/>
            <a:ext cx="9779183" cy="1600835"/>
          </a:xfrm>
        </p:spPr>
        <p:txBody>
          <a:bodyPr/>
          <a:lstStyle/>
          <a:p>
            <a:r>
              <a:rPr lang="en-US" sz="4800" dirty="0">
                <a:solidFill>
                  <a:srgbClr val="000000"/>
                </a:solidFill>
                <a:ea typeface="+mj-lt"/>
                <a:cs typeface="+mj-lt"/>
              </a:rPr>
              <a:t>🔶 Weaknesses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B60D-1E56-F134-85E0-B8FE06C750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9228" y="2135129"/>
            <a:ext cx="10298171" cy="3767616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2400" b="1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Limited financial resources and dependency on sponsors/donations.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Member retention challenges due to academic/professional migration.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Inconsistent participation from some members in events and meetings.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Lack of permanent physical infrastructure or office space.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Limited international collaboration or exchange opportunities.</a:t>
            </a:r>
          </a:p>
          <a:p>
            <a:pPr indent="-283210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13185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F88E-EFD4-6800-6E04-71596C7E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05F700-8BB0-20AD-EC38-49834F3C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3877"/>
            <a:ext cx="9779183" cy="1600835"/>
          </a:xfrm>
        </p:spPr>
        <p:txBody>
          <a:bodyPr/>
          <a:lstStyle/>
          <a:p>
            <a:r>
              <a:rPr lang="en-US" sz="4800" b="0" dirty="0">
                <a:solidFill>
                  <a:srgbClr val="000000"/>
                </a:solidFill>
                <a:ea typeface="+mj-lt"/>
                <a:cs typeface="+mj-lt"/>
              </a:rPr>
              <a:t>🟢 Opportunities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0419-99D0-E179-6A2F-945FB271902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9228" y="2135129"/>
            <a:ext cx="10427567" cy="3767616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2400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Expansion of partnerships with local government bodies and NGOs.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Introduction of skill development workshops for youth and members.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Opportunity to organize national-level events and attract recognition.</a:t>
            </a:r>
          </a:p>
          <a:p>
            <a:pPr indent="-283210"/>
            <a:r>
              <a:rPr lang="en-US" sz="2400">
                <a:ea typeface="+mn-lt"/>
                <a:cs typeface="+mn-lt"/>
              </a:rPr>
              <a:t>Strengthening the club’s digital media to attract youth engagement.</a:t>
            </a:r>
            <a:endParaRPr lang="en-US" sz="2400"/>
          </a:p>
          <a:p>
            <a:pPr indent="-283210"/>
            <a:r>
              <a:rPr lang="en-US" sz="2400" dirty="0">
                <a:ea typeface="+mn-lt"/>
                <a:cs typeface="+mn-lt"/>
              </a:rPr>
              <a:t>Increased community needs creating new project opportunities.</a:t>
            </a:r>
          </a:p>
          <a:p>
            <a:pPr indent="-283210"/>
            <a:r>
              <a:rPr lang="en-US" sz="2400" dirty="0">
                <a:ea typeface="+mn-lt"/>
                <a:cs typeface="+mn-lt"/>
              </a:rPr>
              <a:t>Leveraging training and grant opportunities from Rotary and international bodies.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5601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48CD-FE4F-2660-442D-0E827DE4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4B3A4E-B000-6A5A-17A0-E8DCA84ED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3877"/>
            <a:ext cx="9779183" cy="1600835"/>
          </a:xfrm>
        </p:spPr>
        <p:txBody>
          <a:bodyPr/>
          <a:lstStyle/>
          <a:p>
            <a:r>
              <a:rPr lang="en-US" sz="4800" dirty="0">
                <a:solidFill>
                  <a:srgbClr val="000000"/>
                </a:solidFill>
                <a:ea typeface="+mj-lt"/>
                <a:cs typeface="+mj-lt"/>
              </a:rPr>
              <a:t>🔴 Threats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65425-DFD9-B344-3D9A-0D30DFE970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9228" y="2135129"/>
            <a:ext cx="10298171" cy="3767616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83210"/>
            <a:endParaRPr lang="en-US" sz="2400" dirty="0"/>
          </a:p>
          <a:p>
            <a:pPr indent="-283210"/>
            <a:r>
              <a:rPr lang="en-US" sz="2400" dirty="0">
                <a:ea typeface="+mn-lt"/>
                <a:cs typeface="+mn-lt"/>
              </a:rPr>
              <a:t>Decreasing youth interest in volunteering due to academic/career pressures.</a:t>
            </a:r>
            <a:endParaRPr lang="en-US"/>
          </a:p>
          <a:p>
            <a:pPr indent="-283210"/>
            <a:r>
              <a:rPr lang="en-US" sz="2400" dirty="0">
                <a:ea typeface="+mn-lt"/>
                <a:cs typeface="+mn-lt"/>
              </a:rPr>
              <a:t>Political instability or policy changes affecting social programs.</a:t>
            </a:r>
            <a:endParaRPr lang="en-US" dirty="0">
              <a:ea typeface="+mn-lt"/>
              <a:cs typeface="+mn-lt"/>
            </a:endParaRPr>
          </a:p>
          <a:p>
            <a:pPr indent="-283210"/>
            <a:r>
              <a:rPr lang="en-US" sz="2400" dirty="0">
                <a:ea typeface="+mn-lt"/>
                <a:cs typeface="+mn-lt"/>
              </a:rPr>
              <a:t>Competition from other youth organizations and NGOs in the area.</a:t>
            </a:r>
            <a:endParaRPr lang="en-US" dirty="0">
              <a:ea typeface="+mn-lt"/>
              <a:cs typeface="+mn-lt"/>
            </a:endParaRPr>
          </a:p>
          <a:p>
            <a:pPr indent="-283210"/>
            <a:r>
              <a:rPr lang="en-US" sz="2400" dirty="0">
                <a:ea typeface="+mn-lt"/>
                <a:cs typeface="+mn-lt"/>
              </a:rPr>
              <a:t>Potential burnout of active members without proper delegation or rotation.</a:t>
            </a:r>
            <a:endParaRPr lang="en-US" dirty="0">
              <a:ea typeface="+mn-lt"/>
              <a:cs typeface="+mn-lt"/>
            </a:endParaRPr>
          </a:p>
          <a:p>
            <a:pPr indent="-283210"/>
            <a:r>
              <a:rPr lang="en-US" sz="2400" dirty="0">
                <a:ea typeface="+mn-lt"/>
                <a:cs typeface="+mn-lt"/>
              </a:rPr>
              <a:t>Risk of inactivity during academic off-seasons or local events.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787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/>
              <a:t>+PLUS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/>
              <a:t>BELIEVE IN YOURSELF! </a:t>
            </a:r>
          </a:p>
          <a:p>
            <a:pPr marL="514350" indent="-514350">
              <a:buAutoNum type="arabicPeriod"/>
            </a:pPr>
            <a:r>
              <a:rPr lang="en-US"/>
              <a:t>PUSH YOURSELF TO ACTION.</a:t>
            </a:r>
          </a:p>
          <a:p>
            <a:pPr marL="514350" indent="-514350">
              <a:buAutoNum type="arabicPeriod"/>
            </a:pPr>
            <a:r>
              <a:rPr lang="en-US"/>
              <a:t>LET'S ENJOY THE JOURNEY OF ROTARACT. 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D7C7-3A6A-36AA-3B15-76B7D67E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CB7812-2705-E3C7-D008-59FD8948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Closing Remarks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BFF60-6FAB-43D9-E58E-7E0FAAD4E9B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ea typeface="+mn-lt"/>
                <a:cs typeface="+mn-lt"/>
              </a:rPr>
              <a:t>Leadership begins with purpose, grows through service, and shines brightest when we uplift others. </a:t>
            </a:r>
            <a:endParaRPr lang="en-US" sz="3200" dirty="0"/>
          </a:p>
          <a:p>
            <a:pPr marL="59690" indent="0">
              <a:buNone/>
            </a:pPr>
            <a:r>
              <a:rPr lang="en-US" sz="3200" dirty="0"/>
              <a:t>                          -</a:t>
            </a:r>
            <a:r>
              <a:rPr lang="en-US" sz="3200" dirty="0" err="1"/>
              <a:t>Rtr</a:t>
            </a:r>
            <a:r>
              <a:rPr lang="en-US" sz="3200" dirty="0"/>
              <a:t>. Nabin Chalise</a:t>
            </a:r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/>
          </a:p>
          <a:p>
            <a:pPr indent="-283210"/>
            <a:endParaRPr lang="en-US">
              <a:ea typeface="+mn-lt"/>
              <a:cs typeface="+mn-lt"/>
            </a:endParaRPr>
          </a:p>
          <a:p>
            <a:pPr indent="-283210"/>
            <a:endParaRPr lang="en-US" sz="3200" dirty="0"/>
          </a:p>
          <a:p>
            <a:pPr indent="-283210"/>
            <a:endParaRPr lang="en-US"/>
          </a:p>
          <a:p>
            <a:pPr indent="-28321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24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>
            <a:normAutofit/>
          </a:bodyPr>
          <a:lstStyle/>
          <a:p>
            <a:r>
              <a:rPr lang="en-US" dirty="0" err="1"/>
              <a:t>Rtr</a:t>
            </a:r>
            <a:r>
              <a:rPr lang="en-US" dirty="0"/>
              <a:t>. Nabin Chalise</a:t>
            </a:r>
          </a:p>
          <a:p>
            <a:r>
              <a:rPr lang="en-US" dirty="0"/>
              <a:t>+977-9851338747 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nabin.chalise@rotaract3292.org</a:t>
            </a:r>
            <a:endParaRPr lang="en-US" dirty="0"/>
          </a:p>
          <a:p>
            <a:r>
              <a:rPr lang="en-US" dirty="0"/>
              <a:t>www.nabinchalise.com.np</a:t>
            </a: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2" name="Picture 1" descr="A green and white logo&#10;&#10;AI-generated content may be incorrect.">
            <a:extLst>
              <a:ext uri="{FF2B5EF4-FFF2-40B4-BE49-F238E27FC236}">
                <a16:creationId xmlns:a16="http://schemas.microsoft.com/office/drawing/2014/main" id="{9CC748B3-4133-8E7E-571F-060DB24C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181" y="3431873"/>
            <a:ext cx="1668655" cy="1331347"/>
          </a:xfrm>
          <a:prstGeom prst="rect">
            <a:avLst/>
          </a:prstGeom>
        </p:spPr>
      </p:pic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42DE3DD-3028-DF63-770E-0948BC258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80" y="303721"/>
            <a:ext cx="3461349" cy="33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7188B1-CB43-4216-A332-EE7733BC2215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CE52C7A-8834-4F18-859F-7167A187E138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1245</Words>
  <Application>Microsoft Office PowerPoint</Application>
  <PresentationFormat>Widescreen</PresentationFormat>
  <Paragraphs>225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FrankRuehl</vt:lpstr>
      <vt:lpstr>Inter</vt:lpstr>
      <vt:lpstr>LilyUPC</vt:lpstr>
      <vt:lpstr>Tenorite</vt:lpstr>
      <vt:lpstr>Wingdings</vt:lpstr>
      <vt:lpstr>Custom</vt:lpstr>
      <vt:lpstr>Club Officers Training Seminar   (COTS) #RotaractCOTS2025 #FutureRotaractLeaders</vt:lpstr>
      <vt:lpstr>RTR. NABIN CHALISE</vt:lpstr>
      <vt:lpstr>Experience</vt:lpstr>
      <vt:lpstr>MY ROTARACT JOURNEY</vt:lpstr>
      <vt:lpstr>Overview of topics covered: </vt:lpstr>
      <vt:lpstr>Understanding Club Leadership Roles</vt:lpstr>
      <vt:lpstr>Understanding Club Leadership Roles</vt:lpstr>
      <vt:lpstr>Strategic Planning and Goal Setting</vt:lpstr>
      <vt:lpstr>✅ 1. SMART Goal Setting</vt:lpstr>
      <vt:lpstr>🛠 2. Use of Planning Tools</vt:lpstr>
      <vt:lpstr>🌍 3. Align with Rotaract Priorities</vt:lpstr>
      <vt:lpstr>Effective Club Administration</vt:lpstr>
      <vt:lpstr>📅 1. Productive Meetings &amp; Records</vt:lpstr>
      <vt:lpstr>📜 2. Bylaws, Constitution &amp; Compliance</vt:lpstr>
      <vt:lpstr>📝 3. Reporting &amp; Documentation</vt:lpstr>
      <vt:lpstr>Membership Growth &amp; Retention </vt:lpstr>
      <vt:lpstr>🧲 1. Recruiting New Members</vt:lpstr>
      <vt:lpstr>🤝 2. Welcoming &amp; Inclusive Culture</vt:lpstr>
      <vt:lpstr>🚀 3. Engagement, Development &amp; Recognition</vt:lpstr>
      <vt:lpstr>Community Service &amp; Project Management </vt:lpstr>
      <vt:lpstr>🔍 Identifying Community Needs &amp; Planning Projects </vt:lpstr>
      <vt:lpstr>🎯 SMART Goals – RAC Galkot Baglung (2024–25) </vt:lpstr>
      <vt:lpstr>🌍 7 Areas of Focus</vt:lpstr>
      <vt:lpstr>📊 Monitoring, Evaluation &amp; Sustainability</vt:lpstr>
      <vt:lpstr>🌟 SWOT Analysis of a Club </vt:lpstr>
      <vt:lpstr>The full form of SWOT is: S – Strengths W – Weaknesses O – Opportunities T – Threats</vt:lpstr>
      <vt:lpstr>🔷 Strengths</vt:lpstr>
      <vt:lpstr>🔶 Weaknesses</vt:lpstr>
      <vt:lpstr>🟢 Opportunities</vt:lpstr>
      <vt:lpstr>🔴 Threats</vt:lpstr>
      <vt:lpstr>+PLUS </vt:lpstr>
      <vt:lpstr>Closing Remarks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 Officers Training Seminar   (COTS) #RotaractCOTS2025 #FutureRotaractLeaders</dc:title>
  <dc:creator>NABIN</dc:creator>
  <cp:lastModifiedBy>Galkot</cp:lastModifiedBy>
  <cp:revision>109</cp:revision>
  <dcterms:created xsi:type="dcterms:W3CDTF">2025-05-25T07:57:55Z</dcterms:created>
  <dcterms:modified xsi:type="dcterms:W3CDTF">2026-07-24T01:42:32Z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