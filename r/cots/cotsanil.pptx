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3" r:id="rId4"/>
  </p:sldMasterIdLst>
  <p:notesMasterIdLst>
    <p:notesMasterId r:id="rId48"/>
  </p:notesMasterIdLst>
  <p:handoutMasterIdLst>
    <p:handoutMasterId r:id="rId49"/>
  </p:handoutMasterIdLst>
  <p:sldIdLst>
    <p:sldId id="256" r:id="rId5"/>
    <p:sldId id="292" r:id="rId6"/>
    <p:sldId id="257" r:id="rId7"/>
    <p:sldId id="289" r:id="rId8"/>
    <p:sldId id="298" r:id="rId9"/>
    <p:sldId id="299" r:id="rId10"/>
    <p:sldId id="301" r:id="rId11"/>
    <p:sldId id="302" r:id="rId12"/>
    <p:sldId id="303" r:id="rId13"/>
    <p:sldId id="304" r:id="rId14"/>
    <p:sldId id="305" r:id="rId15"/>
    <p:sldId id="316" r:id="rId16"/>
    <p:sldId id="306" r:id="rId17"/>
    <p:sldId id="307" r:id="rId18"/>
    <p:sldId id="308" r:id="rId19"/>
    <p:sldId id="309" r:id="rId20"/>
    <p:sldId id="310" r:id="rId21"/>
    <p:sldId id="312" r:id="rId22"/>
    <p:sldId id="313" r:id="rId23"/>
    <p:sldId id="314" r:id="rId24"/>
    <p:sldId id="315" r:id="rId25"/>
    <p:sldId id="317" r:id="rId26"/>
    <p:sldId id="336" r:id="rId27"/>
    <p:sldId id="318" r:id="rId28"/>
    <p:sldId id="319" r:id="rId29"/>
    <p:sldId id="320" r:id="rId30"/>
    <p:sldId id="321" r:id="rId31"/>
    <p:sldId id="322" r:id="rId32"/>
    <p:sldId id="323" r:id="rId33"/>
    <p:sldId id="324" r:id="rId34"/>
    <p:sldId id="325" r:id="rId35"/>
    <p:sldId id="326" r:id="rId36"/>
    <p:sldId id="327" r:id="rId37"/>
    <p:sldId id="328" r:id="rId38"/>
    <p:sldId id="329" r:id="rId39"/>
    <p:sldId id="330" r:id="rId40"/>
    <p:sldId id="331" r:id="rId41"/>
    <p:sldId id="332" r:id="rId42"/>
    <p:sldId id="333" r:id="rId43"/>
    <p:sldId id="334" r:id="rId44"/>
    <p:sldId id="335" r:id="rId45"/>
    <p:sldId id="337" r:id="rId46"/>
    <p:sldId id="296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98BF93-27DE-0114-41B4-4137B39ECB59}" v="23" dt="2025-05-27T05:38:27.401"/>
    <p1510:client id="{89E2FDCD-BF23-2EB2-233A-74DF9B4CFBA6}" v="37" dt="2025-05-28T04:43:06.211"/>
    <p1510:client id="{A3574CA6-C89D-3289-5BDA-298687AD809D}" v="124" dt="2025-05-28T09:54:18.837"/>
    <p1510:client id="{C5121B9A-DB7B-9525-C3FC-D0BC80414673}" v="900" dt="2025-05-28T05:35:46.687"/>
    <p1510:client id="{C96E506E-5C6A-9BF7-6B62-9D7A1D443D0F}" v="89" dt="2025-05-27T05:29:29.215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commentAuthors" Target="commentAuthors.xml"/><Relationship Id="rId55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56" Type="http://schemas.microsoft.com/office/2018/10/relationships/authors" Target="authors.xml"/><Relationship Id="rId8" Type="http://schemas.openxmlformats.org/officeDocument/2006/relationships/slide" Target="slides/slide4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8190EA-5EEC-4300-B6AE-D9734C6C648E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FF3A6F-DEFA-45E0-9496-BEE7C2C6F3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7ADD9-2083-264C-A652-8D52D02F7E72}" type="datetimeFigureOut">
              <a:rPr lang="en-US" smtClean="0"/>
              <a:t>5/28/2025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7DC217-DF71-1A49-B3EA-559F1F43B0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8571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2478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7933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3566B-DAC0-87C9-09E2-6BC7E6BBE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8D3A3-682B-C611-F35C-9225691F97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E75D2-D8DE-B853-5F73-D3777A606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8A5CEB-F677-B0C3-5F3D-E074998BA7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66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88599-4E47-49B5-9FC8-313FD6467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6881F-06C9-F10C-B123-A93FAF0940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EA299C-1BB4-739E-29CE-40084735B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7C546-8CA6-4BA7-D299-5AF122A786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7424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2F598-646F-E561-6703-179247224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38CB03-154B-0474-4C0E-E281CBE135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41DFD3-9321-590E-7CBF-D210CBFD27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3D2B3-FFCB-0BBB-2DC9-8A31059251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09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91BD3-7BCD-DF6C-9325-A9104B047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F24A36-2A29-6EFA-7DCD-73EB5C9515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DB6D85-56DE-15DC-6DA2-B482D311BD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EB95F-CB84-5268-D6A3-C27464A33F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9471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2B1C4-3F64-08A1-F40E-9F8082552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182F2D-F550-7611-7931-B5B69C634C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B8F5EB-8C6E-0B8E-64AE-DFD5AA551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AE7ED-7E8E-EC82-E1D7-0E20949789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3296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629A-12A0-D11E-BC49-E4A663B3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72DD8C-B083-280B-8F38-81441F163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EC3CA9-1A96-424A-143C-1E44EAF61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D0F1AF-0A6D-32FD-CFDD-0C35DDE0C8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7257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87360-8E90-C0B3-439A-0AE392F03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3E2D28-6CE3-AB77-1E8A-DAF6ECF9AC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7C6C2-A9A0-8730-DB94-9D91806F17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0ADA0-F6A0-AFD8-8C67-B779C92C19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114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210F2-4AE3-799A-DBBF-480B7ED42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FDD34-0E84-FA70-DAB1-A11984B2F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F30155-6518-FABA-DB89-D9923BB8D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04DAC-974B-55A6-67EB-0ACB021F4F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9019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A1DF4D-4149-62B0-0ABF-E751D92DC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FCFC6-A158-A2B9-F469-BEF1C32AF8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2CB208-C4CD-B25A-5A00-2C0C830DC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0DEAE-7E8D-2395-014D-A76A01638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7675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8DDD1-5E31-4FFB-14F4-3BE598552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5E44E4-987C-8C2A-8804-46BF933B1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83BA68-24C4-6747-EEAA-1BEF207A64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75E9BF-5170-0FEE-2A4F-A2EC1868DD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2537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68A57-23A1-A503-334F-6F5E28848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3F665-378F-A87F-45A1-C2ECE9A800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1D751B-EC2E-0FA0-5170-64F72313D3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24665-B749-BB3E-B7F5-4528A5254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1686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5D076-C695-C8A5-8941-BDF6558F48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38BFCF-1F79-4574-28EB-BD9706A96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D8C77-471B-CA98-FDE2-297DF0714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71BB8-0238-66F6-E9AA-4A6B137A88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743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D795C-177B-9EDE-CC06-CF15EE16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E66869-5461-D955-85FF-F23E89BB18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4061C9-4914-B38C-46F5-4FF0AC2AE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EA90E5-873E-282E-C061-FBA742543D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36190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DA857-140C-97C4-E024-746E3E608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FD3EB-A85A-972F-646D-A2761DC540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5C7042-A268-C4DA-EE04-FF6383AC5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C4B04-B3EE-2DDB-E47D-36C91195A6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6527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DD9E-3A6F-C2C9-94C4-01118F08C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094F90-1533-9887-BD17-DF0A251C3B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A147FD-11B2-36BC-0AB2-98AF5AC42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9E3AAC-08B5-ABF8-A4E0-F9C5FEB369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6807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C08BA-C6CC-D360-7865-E5BAF66B4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399950-CFEC-267D-DC60-0355F0626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3164E0-71D7-B74D-10DC-5B21EFB80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2CF0E-E576-C072-6A6D-64589E2A4D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175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11B13-70EE-E24F-95B4-C6FF56284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E5514B-C9DB-9E43-7763-5C06D9A6AF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538921-E760-D762-F710-6B616AE75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444355-07D9-33F5-CE1B-E84AD080E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8846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EDC4D-23CC-D3C6-BEFB-3AD8C31BC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EA53D7-5274-3309-4F53-D2196C0D1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26210-89A9-ECCC-23D7-F3C7FB6B7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9692D9-3D67-2355-DCC0-964A5586E8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0230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E58BC-83EA-7379-4244-626621A2E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DA56E-F595-6127-6274-4C5C838AD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2BFEF3-122D-2735-9D5D-15610111D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1B91AA-336B-3262-E993-F150E8A6C7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1258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5EF5E-A254-4A01-44E7-BCCCE087A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9B0010-B4F1-8BA8-C739-4677B94ED6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55589D-FA10-3E2C-9822-84CCCCD62A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7E996-B6C8-2B90-5B28-0DFAC16952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87883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6236-0E44-06B6-E2C6-6B072A60C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43F165-4459-EB61-FD74-CD89EFCEBA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D76362-378A-0A06-9850-40209B47C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5D7840-3337-A0E3-0261-8BF579C2D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122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46ED-52DD-5441-3C3D-E35CFD5CEF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7A5DC4-534F-6866-1178-3863D9F9E1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C5DAE4-95D3-D595-F51E-0FD175261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18A7A9-513A-4829-8581-80A1699DE7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243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35A40-45FD-B8FF-9C48-311603B50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F50C1-B39D-312B-F111-98A8204586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2233AD-894F-E9BF-E74A-D6416801FF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D8F79-C586-37D3-25C4-0BD61998AC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4633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E51E9-36F7-CC1D-1199-272C989C0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054394-75BD-A773-0BF9-242186FEC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F7F563-DF99-AC5D-24E9-82E033ADA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27B565-C009-3213-5AEC-3A239BCCA7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5652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943F0-85F7-C607-D777-90FC24B8F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C4ADA-9018-DC67-D86E-205E0B74C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4A64C-6749-6BE4-63F0-934D385354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ED85DC-8DF6-149F-CF3F-85B1CF6A18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18385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BBC92A-FEAB-6A99-8B8A-87A3D2D74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74F8C4-7D0B-2D1E-872D-6A10D18D1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EE39-FCB1-4356-2D62-7798A464B5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75E874-247E-DDBF-945E-EC391CB0D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14842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CE77A-A25F-C62A-AACE-8B26F4F7B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1107A-067A-0A07-06C2-B4A8674B3C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0ED6B1-EC24-E667-37E0-FBCA34875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B293C-B381-ADAE-36D9-D5A359AC0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071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612A0-99FB-0C2C-5161-15114059B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76B999-D27E-C994-A864-7DB549BC66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C224B9-0BBC-754D-785E-B5B7B9848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E3CC3-6784-C18C-0329-717F52121C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4042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37164-F475-5DDC-AE53-5F7ECF0AA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F9828-3967-FB1B-E27B-E913540581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2A0A5-A0CD-8328-1A7A-D88B93A32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EBF82E-DEF9-0F53-425A-C975CA9334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7174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594C1-BA7C-4DB6-D81B-5CE35F8C5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07795-2362-3AE3-3825-EB1DF6937D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E3DC42-F205-6FBC-4188-42CC463F0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75FCC4-994C-6B5A-7619-BC891D7A60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02310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0838B-D794-EFB0-BB6E-6E2235B4C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585C-9112-A913-BB62-60C1585640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0A0B55-5D6A-E4F8-8450-0CEE2E803E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A22EFA-E22B-DD4B-3957-855444D91C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19015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7AEEA-CDC1-7C58-6CD0-00C0843F0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204C8-D020-86E3-89BE-E1578B664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982DD8-3BA5-F78E-6F12-01F7E7348F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8517-BD7D-DC1B-F5C1-9A2A615144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9678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529EC-63F6-DA15-B18A-CC769A87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D0EDB8-1D16-F645-5764-C3C011AD4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79EB70-90CD-8E02-4A28-F9A4C64F87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FD376-33A5-4AC8-3EE9-433A53ACA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31935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D7B5D-77B9-2EB6-54B9-88C35CB9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666C0-C367-37FF-9CB6-DA081ABD5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43F83-791B-379D-4002-DA3C90973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BB2604-B56F-5FF1-8306-2D024D647C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8458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6C83A-FFEC-4E0F-C208-6EF46655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EBEEC0-B20A-8B66-6363-D068F5E153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B770C1-2A3C-E180-3B5C-81286E7B48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C27C3E-71CD-238B-3300-71F3093E54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6986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2FBFE-75E2-1B5D-78EF-B85EF08D8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28861F-9E3F-36E4-DC77-60B2E49BFF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78FE74-C83E-D4A4-15FA-5657A4FE9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427AC0-87AC-9CF6-2DFD-3F0D70D808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1049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FBC6B-7027-23B4-EBC3-555F4F073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D9B5E3-2FFA-1883-BD09-3460688A4B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1776CF-34F4-2E8F-C50C-6791F2CA5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4EC46-1083-E715-24BA-7632A141CE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85636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04C1-85A1-CDE5-8F4C-B68B44BFF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6742FC-3672-C9A2-9E3B-B2ED3DCAC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2CB75-56E2-F3AB-8F38-AF94E42A1F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6F6A7-4088-0053-784C-2147E51149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90080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7DC217-DF71-1A49-B3EA-559F1F43B0FF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185BB-8B07-4DC9-86F3-2A225C777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0200" y="1261872"/>
            <a:ext cx="7638222" cy="2852928"/>
          </a:xfrm>
        </p:spPr>
        <p:txBody>
          <a:bodyPr anchor="b">
            <a:normAutofit/>
          </a:bodyPr>
          <a:lstStyle>
            <a:lvl1pPr algn="l">
              <a:lnSpc>
                <a:spcPct val="130000"/>
              </a:lnSpc>
              <a:defRPr sz="3600" spc="1300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4D496A-6E7A-4923-8ED5-B4164125DE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0200" y="4681728"/>
            <a:ext cx="7638222" cy="9292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lnSpc>
                <a:spcPct val="130000"/>
              </a:lnSpc>
              <a:buNone/>
              <a:defRPr sz="1600" b="1" cap="all" spc="600" baseline="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E3D20-43DC-4C14-8CFF-18545AED1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70CF7-838D-41F7-9297-B5F83BDCEB13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4FC300-5AFC-418B-85FD-EFA94BD7A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9C7E81-ED3C-4DB0-8E74-AD2A87E6B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0C817C9-850F-4FB6-B93B-CF3076C4A5C1}"/>
              </a:ext>
            </a:extLst>
          </p:cNvPr>
          <p:cNvGrpSpPr/>
          <p:nvPr/>
        </p:nvGrpSpPr>
        <p:grpSpPr>
          <a:xfrm flipH="1">
            <a:off x="0" y="0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59433A8-B67D-4675-AFDE-131069A709FC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1CD1C45-6A4D-4237-B39C-2D58F401A8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3235797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25F8D-0421-4AEC-9C40-A13163EC8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37680-115A-411F-AEF6-4AC2096B4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CC193-1304-4D0F-8331-14D4EC08E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069DA-BCAC-469D-B81F-5CD529FD1EE6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F455C1-CD32-4050-BAFF-51CC6B62D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0AF608-FF11-4CBE-B717-5D56AE67D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2043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BD23A02E-6DCF-427A-8CFD-281B2185C7F0}"/>
              </a:ext>
            </a:extLst>
          </p:cNvPr>
          <p:cNvSpPr/>
          <p:nvPr/>
        </p:nvSpPr>
        <p:spPr>
          <a:xfrm>
            <a:off x="3242985" y="511814"/>
            <a:ext cx="5706031" cy="5706031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dist="165100" dir="2220000" algn="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F6B4C32-F19C-44F3-8EF8-1F506D74D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9192" y="1709738"/>
            <a:ext cx="4893617" cy="2553893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889729-131C-4F78-9DAA-E9EE28EA9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62249" y="4540468"/>
            <a:ext cx="4067503" cy="115403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1600" b="1" cap="all" spc="6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4E608-AC1F-41FB-974A-BD619C6C2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B3F2-5297-4D62-BDB7-590764A696AF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986158-8B03-45C3-891D-0357B198B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3B054-E8A2-43FD-B0FB-B1CCFA4BC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91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64AA7-6D5A-402E-AD1A-880F2BDB7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D32B6-F9D8-4A43-B52C-336CFAB00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2976" y="2019299"/>
            <a:ext cx="4995019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50CDD9-5742-4A34-BA72-7CCA72D914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3718" y="2019299"/>
            <a:ext cx="5027954" cy="4157663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2783AA-D2AB-4385-A91F-870CB65646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0FAC0-A4F5-4A85-98AE-9E6BDD843B92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5AAD9C-5CA2-4DA1-84D3-B1838979F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1AB3C7-9574-47BC-932D-782BEE998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042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4C468-781B-4BC5-8DEA-B9EF2BF90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1460" y="369168"/>
            <a:ext cx="10458729" cy="143981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7223F-48E4-491D-AB5D-5FC8A0C566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1" y="1843067"/>
            <a:ext cx="5007894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D6B764-4B87-42FF-ABAA-69B07B88FF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00101" y="2505075"/>
            <a:ext cx="5007894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4357B9-406F-4BF9-B8FB-C53421EEF5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6061" y="1843067"/>
            <a:ext cx="4994128" cy="662007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20462B-1939-4DAA-A7DD-6BDC95054A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6061" y="2505075"/>
            <a:ext cx="4994128" cy="3684588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  <a:lvl2pPr>
              <a:defRPr>
                <a:latin typeface="+mj-lt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6C938B-C4C2-4FA9-85CA-9CD742CD7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1F58DF-B20E-4829-8712-7D40EB90064E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AD8886-0D28-4D49-8D43-151D37E94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72FDDE8-E9F8-4B6C-9A40-829617A7C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202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AE3D8-6C35-428B-B2F2-251FDE10BD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983769"/>
            <a:ext cx="10094770" cy="1180574"/>
          </a:xfrm>
          <a:solidFill>
            <a:schemeClr val="accent1">
              <a:lumMod val="20000"/>
              <a:lumOff val="80000"/>
            </a:schemeClr>
          </a:solidFill>
          <a:effectLst>
            <a:outerShdw dist="165100" dir="18900000" algn="bl" rotWithShape="0">
              <a:prstClr val="black"/>
            </a:outerShdw>
          </a:effectLst>
        </p:spPr>
        <p:txBody>
          <a:bodyPr/>
          <a:lstStyle>
            <a:lvl1pPr marL="18288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0B8015-E11A-42CA-AE88-7BD73F87E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52F2A-FD05-43F8-9927-AF9F6AA75EA1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309078-34CA-45CD-B479-03906A265C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D03258-F989-47B2-A643-A60CD8A77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06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7DA2F31-48B6-40CE-A364-3CE73FD85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112728-8AF2-421E-A3EE-3D32DADA7E63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7EEA00-F166-41EB-9331-CA99BB70F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B051F-F8FC-4FF6-9783-45F9FE7AC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10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08635-A5AF-48F4-8CD2-FB0E01113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15E0E-DCC0-4781-A608-962B1241B5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9826" y="987425"/>
            <a:ext cx="6045562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21F43E-3D50-4A1C-A289-B3D0DD0E71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E70E3A-6639-4EA0-8305-C1899DAB4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F64D57-1513-4084-818F-075C9D0922CD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6AFD57-4189-42FB-B29E-96366E51B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5E2EC-8483-4FBC-9D29-C19025FA8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0479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CE581-A090-4AE9-9965-B06BDB52B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3932237" cy="1600200"/>
          </a:xfrm>
        </p:spPr>
        <p:txBody>
          <a:bodyPr anchor="t">
            <a:normAutofit/>
          </a:bodyPr>
          <a:lstStyle>
            <a:lvl1pPr>
              <a:defRPr sz="28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39DEF4-262F-4ACF-9B29-3D4B819E706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353969" y="987425"/>
            <a:ext cx="5694503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ED7CBB-7A6F-441E-9072-2494B952FA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312737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159692-77BE-4A7D-AA70-635007A6E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51DC6D-53F2-404B-944C-46E1F58C3149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9A4DA-63AF-4D6A-98DB-E1D0AC741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B7958-B19B-4C23-A82F-DD4E4B91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39531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958AD-1CAD-45B3-B83D-DC9D33CD6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153F2E-0397-4423-8A88-D0059DEAF0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7ADDE1-7025-4FA9-822D-48168508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6330A-4522-49F4-ACCE-A07321703478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A73E0-F328-46DC-98BE-CA0981F75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652226-010C-494F-8BE8-BF91F3553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F89E9C4-9D18-4529-BC0C-68EAE507CDF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D7DF5937-0C03-4786-AB62-3CF7CECB92D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9AD93DB-2DB0-4B2D-884B-6EC4534432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42027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9C635D0-31D9-44E1-911D-F7D5D5400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53914" y="624313"/>
            <a:ext cx="2537986" cy="5509787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7F9230-1FA4-439D-A800-B5F006F07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00100" y="624313"/>
            <a:ext cx="7816542" cy="550978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AB2A3-7055-43AF-8BAB-0A9B74448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C5DDF-A796-4D56-9973-341789785817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9A1821-A311-49CD-BCB4-B4BC88661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7C6A8-813A-486A-AA90-AB28935F2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38C7A17-06CC-442C-A876-A51B2B556508}"/>
              </a:ext>
            </a:extLst>
          </p:cNvPr>
          <p:cNvGrpSpPr/>
          <p:nvPr/>
        </p:nvGrpSpPr>
        <p:grpSpPr>
          <a:xfrm flipH="1" flipV="1">
            <a:off x="0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54C1798A-2980-4F34-8355-7BCB6B295322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D7542C-E4AE-488F-BC75-2E7ED83910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11088562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reeform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anchor="b">
            <a:noAutofit/>
          </a:bodyPr>
          <a:lstStyle>
            <a:lvl1pPr algn="l">
              <a:defRPr sz="6000" b="1"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1268421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and Image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208822" cy="6858002"/>
            <a:chOff x="0" y="0"/>
            <a:chExt cx="12208822" cy="685800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7200"/>
            <a:ext cx="10643508" cy="1371600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B07A1CF7-9B3B-E43E-830E-DAB65B608249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1166088" y="2652713"/>
            <a:ext cx="5394959" cy="3436936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D976D8D6-3BDC-1908-3425-FEE3EEF51A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317920" y="1447800"/>
            <a:ext cx="4214010" cy="4214010"/>
          </a:xfrm>
          <a:prstGeom prst="ellipse">
            <a:avLst/>
          </a:prstGeom>
          <a:solidFill>
            <a:schemeClr val="accent2"/>
          </a:solidFill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3921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anchor="b">
            <a:noAutofit/>
          </a:bodyPr>
          <a:lstStyle>
            <a:lvl1pPr>
              <a:defRPr sz="4200" b="1">
                <a:latin typeface="+mj-lt"/>
              </a:defRPr>
            </a:lvl1pPr>
          </a:lstStyle>
          <a:p>
            <a:r>
              <a:rPr lang="en-US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r>
              <a:rPr lang="en-US"/>
              <a:t>9/8/20XX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>
            <a:noAutofit/>
          </a:bodyPr>
          <a:lstStyle>
            <a:lvl1pPr>
              <a:defRPr>
                <a:solidFill>
                  <a:schemeClr val="accent2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>
            <a:noAutofit/>
          </a:bodyPr>
          <a:lstStyle>
            <a:lvl1pPr>
              <a:defRPr>
                <a:solidFill>
                  <a:schemeClr val="accent3"/>
                </a:solidFill>
                <a:latin typeface="+mn-lt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80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86DAE1-1F65-43B8-A400-95E6DEEDC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61" y="365125"/>
            <a:ext cx="10357666" cy="14384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75C993-A44B-4C2D-818E-4C9000BB0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8662" y="2019299"/>
            <a:ext cx="10357666" cy="41148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A21B6E-ECC6-47D0-9C14-812B746F15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95014" y="634204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3716B609-2A26-46AA-B595-3671F5470576}" type="datetimeFigureOut">
              <a:rPr lang="en-US" dirty="0"/>
              <a:t>5/28/2025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09A716-DEA9-48A9-A5BC-0F392D2B49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96200" y="6342042"/>
            <a:ext cx="3470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CB69E-A0E4-4558-9C62-4CD8CDD2A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329" y="6342042"/>
            <a:ext cx="5262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100" baseline="0">
                <a:solidFill>
                  <a:schemeClr val="tx1"/>
                </a:solidFill>
              </a:defRPr>
            </a:lvl1pPr>
          </a:lstStyle>
          <a:p>
            <a:fld id="{8DFDE724-0293-4953-AE9D-4D814FA589B0}" type="slidenum">
              <a:rPr lang="en-US" dirty="0"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B6ECC43-D65E-4A7B-A76B-D278A2184166}"/>
              </a:ext>
            </a:extLst>
          </p:cNvPr>
          <p:cNvGrpSpPr/>
          <p:nvPr/>
        </p:nvGrpSpPr>
        <p:grpSpPr>
          <a:xfrm flipV="1">
            <a:off x="11626076" y="3551521"/>
            <a:ext cx="567782" cy="3306479"/>
            <a:chOff x="11619770" y="-2005"/>
            <a:chExt cx="567782" cy="3306479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7EE443C5-5AB9-407B-A8C3-011BB14FEF06}"/>
                </a:ext>
              </a:extLst>
            </p:cNvPr>
            <p:cNvSpPr/>
            <p:nvPr/>
          </p:nvSpPr>
          <p:spPr>
            <a:xfrm flipV="1">
              <a:off x="11619770" y="373807"/>
              <a:ext cx="526228" cy="2930667"/>
            </a:xfrm>
            <a:custGeom>
              <a:avLst/>
              <a:gdLst/>
              <a:ahLst/>
              <a:cxnLst/>
              <a:rect l="l" t="t" r="r" b="b"/>
              <a:pathLst>
                <a:path w="757287" h="3694096">
                  <a:moveTo>
                    <a:pt x="757287" y="3694096"/>
                  </a:moveTo>
                  <a:lnTo>
                    <a:pt x="757287" y="0"/>
                  </a:lnTo>
                  <a:lnTo>
                    <a:pt x="0" y="0"/>
                  </a:lnTo>
                  <a:lnTo>
                    <a:pt x="0" y="3686094"/>
                  </a:lnTo>
                  <a:close/>
                </a:path>
              </a:pathLst>
            </a:custGeom>
            <a:blipFill dpi="0" rotWithShape="1"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rcRect/>
              <a:tile tx="0" ty="0" sx="6000" sy="6000" flip="none" algn="tl"/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538C9FA-DA5E-4785-8F4A-CA481A3A65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 flipV="1">
              <a:off x="11980943" y="-2005"/>
              <a:ext cx="206609" cy="202130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</p:spTree>
    <p:extLst>
      <p:ext uri="{BB962C8B-B14F-4D97-AF65-F5344CB8AC3E}">
        <p14:creationId xmlns:p14="http://schemas.microsoft.com/office/powerpoint/2010/main" val="3524164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</p:sldLayoutIdLst>
  <p:hf hdr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3200" kern="1200" cap="all" spc="7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SzPct val="8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500"/>
        </a:spcBef>
        <a:buSzPct val="10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22860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504">
          <p15:clr>
            <a:srgbClr val="F26B43"/>
          </p15:clr>
        </p15:guide>
        <p15:guide id="3" pos="7176">
          <p15:clr>
            <a:srgbClr val="F26B43"/>
          </p15:clr>
        </p15:guide>
        <p15:guide id="5" orient="horz" pos="1272">
          <p15:clr>
            <a:srgbClr val="F26B43"/>
          </p15:clr>
        </p15:guide>
        <p15:guide id="6" orient="horz" pos="1728">
          <p15:clr>
            <a:srgbClr val="F26B43"/>
          </p15:clr>
        </p15:guide>
        <p15:guide id="7" orient="horz" pos="3864">
          <p15:clr>
            <a:srgbClr val="F26B43"/>
          </p15:clr>
        </p15:guide>
        <p15:guide id="8" orient="horz" pos="3432">
          <p15:clr>
            <a:srgbClr val="F26B43"/>
          </p15:clr>
        </p15:guide>
        <p15:guide id="9" pos="10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5087" y="571709"/>
            <a:ext cx="7988328" cy="3830130"/>
          </a:xfrm>
        </p:spPr>
        <p:txBody>
          <a:bodyPr/>
          <a:lstStyle/>
          <a:p>
            <a:pPr algn="ctr"/>
            <a:r>
              <a:rPr lang="en-US" sz="3600" dirty="0">
                <a:solidFill>
                  <a:srgbClr val="00B050"/>
                </a:solidFill>
                <a:ea typeface="+mj-lt"/>
                <a:cs typeface="+mj-lt"/>
              </a:rPr>
              <a:t>Club Officers Training Seminar</a:t>
            </a:r>
            <a:r>
              <a:rPr lang="en-US" sz="2400" dirty="0">
                <a:solidFill>
                  <a:srgbClr val="00B050"/>
                </a:solidFill>
                <a:latin typeface="LilyUPC"/>
                <a:ea typeface="+mj-lt"/>
                <a:cs typeface="+mj-lt"/>
              </a:rPr>
              <a:t> </a:t>
            </a:r>
            <a:r>
              <a:rPr lang="en-US" sz="8000" dirty="0">
                <a:solidFill>
                  <a:srgbClr val="00B050"/>
                </a:solidFill>
                <a:latin typeface="LilyUPC"/>
                <a:ea typeface="+mj-lt"/>
                <a:cs typeface="+mj-lt"/>
              </a:rPr>
              <a:t>(COTS)</a:t>
            </a:r>
            <a:endParaRPr lang="en-US" sz="8000" dirty="0">
              <a:solidFill>
                <a:srgbClr val="00B050"/>
              </a:solidFill>
              <a:latin typeface="LilyUPC"/>
              <a:cs typeface="LilyUPC"/>
            </a:endParaRPr>
          </a:p>
          <a:p>
            <a:r>
              <a:rPr lang="en-US" sz="2400" dirty="0">
                <a:solidFill>
                  <a:srgbClr val="0070C0"/>
                </a:solidFill>
                <a:ea typeface="+mj-lt"/>
                <a:cs typeface="+mj-lt"/>
              </a:rPr>
              <a:t>#RotaractCOTS2025 #FutureRotaractLeaders</a:t>
            </a:r>
            <a:endParaRPr lang="en-US" sz="2400">
              <a:solidFill>
                <a:srgbClr val="0070C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49E9B1-FA0C-093C-F5DB-5E00A8532FCD}"/>
              </a:ext>
            </a:extLst>
          </p:cNvPr>
          <p:cNvSpPr txBox="1"/>
          <p:nvPr/>
        </p:nvSpPr>
        <p:spPr>
          <a:xfrm>
            <a:off x="2426110" y="4761272"/>
            <a:ext cx="7032522" cy="24468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3000">
                <a:latin typeface="FrankRuehl"/>
                <a:cs typeface="FrankRuehl"/>
              </a:rPr>
              <a:t>📍 CHAKATI KITCHEN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3000">
                <a:latin typeface="FrankRuehl"/>
                <a:cs typeface="FrankRuehl"/>
              </a:rPr>
              <a:t>📅 May 29, 2025 (Thursday) 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3000">
                <a:latin typeface="FrankRuehl"/>
                <a:cs typeface="FrankRuehl"/>
              </a:rPr>
              <a:t>🕘 01:00 P.M.</a:t>
            </a:r>
            <a:endParaRPr lang="en-US">
              <a:latin typeface="FrankRuehl"/>
              <a:cs typeface="FrankRuehl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EF58C-138C-55F4-DA77-4C3F06C81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4964" y="-376687"/>
            <a:ext cx="10643508" cy="1371600"/>
          </a:xfrm>
        </p:spPr>
        <p:txBody>
          <a:bodyPr/>
          <a:lstStyle/>
          <a:p>
            <a:r>
              <a:rPr lang="en-US"/>
              <a:t>RTR. ANIL SHRESTHA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DDE7C-335B-FD23-E1E6-CDCB99B7878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390436" y="1329996"/>
            <a:ext cx="8629228" cy="3954522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342900" indent="-342900">
              <a:buChar char="•"/>
            </a:pPr>
            <a:r>
              <a:rPr lang="en-US" dirty="0">
                <a:ea typeface="+mn-lt"/>
                <a:cs typeface="+mn-lt"/>
              </a:rPr>
              <a:t>An auto enthusiast, is currently serving as the District Cultural Activities Chair at Rotaract 3292 (Nepal-Bhutan). </a:t>
            </a:r>
          </a:p>
          <a:p>
            <a:pPr marL="342900" indent="-342900">
              <a:buChar char="•"/>
            </a:pPr>
            <a:r>
              <a:rPr lang="en-US" dirty="0">
                <a:ea typeface="+mn-lt"/>
                <a:cs typeface="+mn-lt"/>
              </a:rPr>
              <a:t>Holds key positions as Club Advisor (RY.24-25) in RAC </a:t>
            </a:r>
            <a:r>
              <a:rPr lang="en-US" err="1">
                <a:ea typeface="+mn-lt"/>
                <a:cs typeface="+mn-lt"/>
              </a:rPr>
              <a:t>Galkot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Baglung</a:t>
            </a:r>
            <a:r>
              <a:rPr lang="en-US" dirty="0">
                <a:ea typeface="+mn-lt"/>
                <a:cs typeface="+mn-lt"/>
              </a:rPr>
              <a:t> &amp; actively contributing to the growth and collaboration within the Rotaract movement.</a:t>
            </a:r>
          </a:p>
          <a:p>
            <a:pPr marL="342900" indent="-342900">
              <a:buChar char="•"/>
            </a:pPr>
            <a:r>
              <a:rPr lang="en-US" dirty="0">
                <a:ea typeface="+mn-lt"/>
                <a:cs typeface="+mn-lt"/>
              </a:rPr>
              <a:t>Owner of Sabona Automobile, the creator of </a:t>
            </a:r>
            <a:r>
              <a:rPr lang="en-US" err="1">
                <a:ea typeface="+mn-lt"/>
                <a:cs typeface="+mn-lt"/>
              </a:rPr>
              <a:t>Chakati</a:t>
            </a:r>
            <a:r>
              <a:rPr lang="en-US" dirty="0">
                <a:ea typeface="+mn-lt"/>
                <a:cs typeface="+mn-lt"/>
              </a:rPr>
              <a:t> Kitchen, and the co-founder of Buffer </a:t>
            </a:r>
            <a:r>
              <a:rPr lang="en-US" err="1">
                <a:ea typeface="+mn-lt"/>
                <a:cs typeface="+mn-lt"/>
              </a:rPr>
              <a:t>Bahuudesya</a:t>
            </a:r>
            <a:r>
              <a:rPr lang="en-US" dirty="0">
                <a:ea typeface="+mn-lt"/>
                <a:cs typeface="+mn-lt"/>
              </a:rPr>
              <a:t> Krishi Tatha </a:t>
            </a:r>
            <a:r>
              <a:rPr lang="en-US" err="1">
                <a:ea typeface="+mn-lt"/>
                <a:cs typeface="+mn-lt"/>
              </a:rPr>
              <a:t>Pashupanchi</a:t>
            </a:r>
            <a:r>
              <a:rPr lang="en-US" dirty="0">
                <a:ea typeface="+mn-lt"/>
                <a:cs typeface="+mn-lt"/>
              </a:rPr>
              <a:t> Ltd., </a:t>
            </a:r>
            <a:r>
              <a:rPr lang="en-US" err="1">
                <a:ea typeface="+mn-lt"/>
                <a:cs typeface="+mn-lt"/>
              </a:rPr>
              <a:t>Ramechhap</a:t>
            </a:r>
            <a:r>
              <a:rPr lang="en-US" dirty="0">
                <a:ea typeface="+mn-lt"/>
                <a:cs typeface="+mn-lt"/>
              </a:rPr>
              <a:t> — showcasing his entrepreneurial spirit across diverse industries.</a:t>
            </a:r>
          </a:p>
          <a:p>
            <a:r>
              <a:rPr lang="en-US" dirty="0">
                <a:ea typeface="+mn-lt"/>
                <a:cs typeface="+mn-lt"/>
              </a:rPr>
              <a:t>Passionate about automobiles, culture, and community development, he is driven by creativity, leadership, and a commitment to building impactful ventures with purpose and passion.</a:t>
            </a:r>
          </a:p>
          <a:p>
            <a:endParaRPr lang="en-US" dirty="0"/>
          </a:p>
        </p:txBody>
      </p:sp>
      <p:pic>
        <p:nvPicPr>
          <p:cNvPr id="25" name="Picture Placeholder 24" descr="A person wearing sunglasses and a black coat&#10;&#10;AI-generated content may be incorrect.">
            <a:extLst>
              <a:ext uri="{FF2B5EF4-FFF2-40B4-BE49-F238E27FC236}">
                <a16:creationId xmlns:a16="http://schemas.microsoft.com/office/drawing/2014/main" id="{E57751D1-D655-B1C0-2407-A8826F55102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/>
          <a:stretch/>
        </p:blipFill>
        <p:spPr>
          <a:xfrm>
            <a:off x="8876956" y="3436099"/>
            <a:ext cx="3137524" cy="3127260"/>
          </a:xfrm>
        </p:spPr>
      </p:pic>
    </p:spTree>
    <p:extLst>
      <p:ext uri="{BB962C8B-B14F-4D97-AF65-F5344CB8AC3E}">
        <p14:creationId xmlns:p14="http://schemas.microsoft.com/office/powerpoint/2010/main" val="3626495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2DF434-28DB-4621-A497-D62C41CE0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202663"/>
            <a:ext cx="9779183" cy="982415"/>
          </a:xfrm>
        </p:spPr>
        <p:txBody>
          <a:bodyPr/>
          <a:lstStyle/>
          <a:p>
            <a:r>
              <a:rPr lang="en-US" dirty="0"/>
              <a:t>Table of Contents: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88C46-D0BC-4307-AE55-7601A139E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1327354"/>
            <a:ext cx="9779182" cy="553779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3200" dirty="0">
                <a:latin typeface="Times New Roman"/>
                <a:cs typeface="Times New Roman"/>
              </a:rPr>
              <a:t>Why Rotaract?</a:t>
            </a:r>
          </a:p>
          <a:p>
            <a:pPr marL="285750" indent="-285750">
              <a:buFont typeface="Arial"/>
              <a:buChar char="•"/>
            </a:pPr>
            <a:r>
              <a:rPr lang="en-US" sz="3200" dirty="0">
                <a:latin typeface="Times New Roman"/>
                <a:cs typeface="Times New Roman"/>
              </a:rPr>
              <a:t>What is Rotaract History</a:t>
            </a:r>
          </a:p>
          <a:p>
            <a:pPr marL="285750" indent="-285750">
              <a:buFont typeface="Arial"/>
              <a:buChar char="•"/>
            </a:pPr>
            <a:r>
              <a:rPr lang="en-US" sz="3200" dirty="0">
                <a:latin typeface="Times New Roman"/>
                <a:cs typeface="Times New Roman"/>
              </a:rPr>
              <a:t>Why Rotaract is Important</a:t>
            </a:r>
          </a:p>
          <a:p>
            <a:pPr marL="285750" indent="-285750">
              <a:buFont typeface="Arial"/>
              <a:buChar char="•"/>
            </a:pPr>
            <a:r>
              <a:rPr lang="en-US" sz="3200" dirty="0">
                <a:latin typeface="Times New Roman"/>
                <a:cs typeface="Times New Roman"/>
              </a:rPr>
              <a:t>Our Duties &amp; Responsibilities</a:t>
            </a:r>
            <a:endParaRPr lang="en-US" sz="3200"/>
          </a:p>
          <a:p>
            <a:pPr marL="285750" indent="-285750">
              <a:buFont typeface="Arial"/>
              <a:buChar char="•"/>
            </a:pPr>
            <a:r>
              <a:rPr lang="en-US" sz="3200" dirty="0">
                <a:latin typeface="Times New Roman"/>
                <a:cs typeface="Times New Roman"/>
              </a:rPr>
              <a:t>What is Rotaract For Me? </a:t>
            </a:r>
            <a:endParaRPr lang="en-US" sz="3200">
              <a:latin typeface="Tenorite"/>
              <a:cs typeface="Times New Roman"/>
            </a:endParaRPr>
          </a:p>
          <a:p>
            <a:pPr marL="285750" indent="-285750">
              <a:buFont typeface="Arial"/>
              <a:buChar char="•"/>
            </a:pPr>
            <a:r>
              <a:rPr lang="en-US" sz="3200" dirty="0">
                <a:latin typeface="Times New Roman"/>
                <a:cs typeface="Times New Roman"/>
              </a:rPr>
              <a:t>Promoting Each Other</a:t>
            </a:r>
            <a:endParaRPr lang="en-US" sz="3200"/>
          </a:p>
          <a:p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5608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FF5EE67-DE83-C00F-F31C-58A2B4623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Welcome, Fellow </a:t>
            </a:r>
            <a:r>
              <a:rPr lang="en-US" sz="4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Rotaractors</a:t>
            </a:r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!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F7743C-9A64-6DD7-26EC-7870E2484D2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Honored to be among passionate changemakers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Speaking as a proud </a:t>
            </a:r>
            <a:r>
              <a:rPr lang="en-US" sz="320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Rotaractor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shaped by service, fellowship, and leadership</a:t>
            </a:r>
            <a:endParaRPr lang="en-US" dirty="0"/>
          </a:p>
          <a:p>
            <a:pPr indent="-28321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9338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64B31-5ACF-2249-B512-589AF3D9D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ED7859-0E73-0EB6-E8EF-A29B9E17A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Where It All Began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C192-6400-F9DE-0F31-9F1AB51C4DA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Founded: March 13, 1968 – Charlotte, North Carolina, USA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Created by the Rotary Club of North Charlotte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Purpose: Engage youth in service and leadership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845095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B948F-E5B5-AE98-9F1B-B9999F897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733BCA3-4CB1-A882-4BD8-414308846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Rotaract Today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DA54E-038C-F0C4-5DE9-EF6CD27DA35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10,000+ clubs</a:t>
            </a:r>
            <a:endParaRPr lang="en-US" dirty="0">
              <a:solidFill>
                <a:srgbClr val="FFFFFF"/>
              </a:solidFill>
              <a:latin typeface="Tenorite"/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180+ countries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200,000+ members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Global service and fellowship platform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57350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3D286-BFE6-909C-E264-83E0EC60D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ED896C-52BD-C603-2F77-9970D342F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From </a:t>
            </a:r>
            <a:r>
              <a:rPr lang="en-US" sz="4400" b="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Galkot</a:t>
            </a:r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to Global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9DA1BF-BDC5-B771-6534-310CB830BE6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Joined RAC 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Galkot</a:t>
            </a:r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Baglung</a:t>
            </a:r>
            <a:endParaRPr lang="en-US" dirty="0" err="1">
              <a:solidFill>
                <a:srgbClr val="FFFFFF"/>
              </a:solidFill>
              <a:latin typeface="Tenorite"/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Learned leadership through local projects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Represented Nepal at SEARIC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Gained life-changing experiences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745125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1B672-8168-1FFE-C700-46C16E6A5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7C2F47C-23E3-C36A-F3F0-367DBD892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What Rotaract Taught 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F0249-5684-9831-7946-8C1509D2252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Leadership is about action, not position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Service transforms both giver and receiver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Growth happens when we step outside our comfort zones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88831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4F4B-29F4-14B2-3227-5137D9F1A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D801086-8D4C-6BD2-B078-0358A69B0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The Future is Ours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8031D-B139-B8AE-3613-0CD26D5DCA1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 active, not just present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Bring back passive members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Design impactful, sustainable projects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23565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D7FEC-0C44-AF37-705D-B87FE51C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ABFB6CE-573F-F859-E6E5-CF940D192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 the Energy!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8EB44-C424-1C56-7BFD-3006CA7DC13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Take ownership of your club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Spark innovation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Lead with heart, serve with purpose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3935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4C772-601F-ED8F-8541-CAEDF58A5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E5B1E61-B2BC-E4EB-C452-C4D4290AC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Let’s Keep the Fire Burning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C71D9-48C8-E9E4-31FC-B0AD4684ACC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Rotaract promises growth, not comfort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Participate, lead, and serve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Together, let’s create history</a:t>
            </a:r>
            <a:endParaRPr lang="en-US" dirty="0"/>
          </a:p>
          <a:p>
            <a:pPr marL="59690" indent="0">
              <a:buNone/>
            </a:pPr>
            <a:endParaRPr lang="en-US" sz="3200" dirty="0">
              <a:solidFill>
                <a:srgbClr val="000000"/>
              </a:solidFill>
              <a:latin typeface="Arial"/>
              <a:ea typeface="Calibri"/>
              <a:cs typeface="Arial"/>
            </a:endParaRPr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175968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B8409-AAB0-295E-DA2E-24ABFD7BC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FE2732-B024-9158-0006-2DEA41344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Our National Legacy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FA022-7E63-EE81-2BCF-13E5E9F8A50A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indent="-283210"/>
            <a:r>
              <a:rPr lang="en-US" sz="3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We have 180+ Clubs of 6500 </a:t>
            </a:r>
            <a:r>
              <a:rPr lang="en-US" sz="320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Rotaractors</a:t>
            </a:r>
            <a:r>
              <a:rPr lang="en-US" sz="3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endParaRPr lang="en-US" dirty="0">
              <a:solidFill>
                <a:srgbClr val="FFFFFF"/>
              </a:solidFill>
              <a:latin typeface="Tenorite"/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 vibrant and growing network</a:t>
            </a:r>
            <a:endParaRPr lang="en-US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Projects in disaster response, health, education, empowerment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Cultural exchange and international representation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15282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0A89E-2E56-2795-4A2B-468B6C6D4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55EF801-3622-C69D-E153-AE5319481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Why Rotaract is Important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53D964-C30E-B809-FF77-3AB7121EA43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Rotaract bridges youth potential and community needs.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Empowering youth to lead, serve, and grow.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07263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F7725-957C-6B83-95DD-B25262D27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4480F83-9178-D982-9C64-82FE4C8CD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1. Builds Leadership Skills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6CE48-8A4C-4D40-EA8D-1AB76BA4111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 training ground for future leaders</a:t>
            </a:r>
            <a:endParaRPr lang="en-US" dirty="0">
              <a:solidFill>
                <a:srgbClr val="FFFFFF"/>
              </a:solidFill>
              <a:latin typeface="Tenorite"/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Learn leadership through roles and projects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Prepares youth for careers and public service</a:t>
            </a:r>
            <a:endParaRPr lang="en-US" dirty="0"/>
          </a:p>
          <a:p>
            <a:pPr indent="-283210"/>
            <a:endParaRPr lang="en-US" sz="44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637757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0DDA7-92AA-1357-6FB9-E99D2501E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47726C9-B768-4623-E0DC-223369FF5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2. Encourages Community Service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5DAC9-CACC-25F9-5715-42681FFC21C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Identifies local problems and takes action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Involved in health, education, disaster response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Turns compassion into real impact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56262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F28B5-DC8C-2683-D57F-1080E028D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64F7BE-0A72-D188-F4E9-CCAE871180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3. Creates Global Connections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52282-5A22-77C7-4315-12802F52CE9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Active in 180+ countries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Attend SEARIC, Rotaract Preconvention, and more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Promotes global understanding and peacebuilding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0790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60645-52D2-1895-EF75-E50D4ABCF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DD4B205-B8F7-0EBF-71F1-00972826B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4. Promotes Personal Growth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721B5-7C89-E1A5-47E1-CF617C855FE9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Builds confidence and life skills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Learn through real-life experiences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Discover and live your purpose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535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E7CA2-5C53-A406-1EB7-E7CF19250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0396D07-B35D-6C0A-E095-122C39A97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5. Builds Lifelong Friendships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1A7C3-9A44-4454-D56C-4DF39BD6D6E8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Fellowship is a core value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Form lifelong friendships and networks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Share a common purpose: Service Above Self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03598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70D96-11A9-D02B-A50D-52F470CFB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E183185-2642-26F2-86AE-627681B88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6. Acts as a Bridge to Rotary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BC4CF-C15C-714D-1362-6A9D0B390AFF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Youth wing of Rotary International</a:t>
            </a:r>
            <a:endParaRPr lang="en-US" dirty="0">
              <a:solidFill>
                <a:srgbClr val="FFFFFF"/>
              </a:solidFill>
              <a:latin typeface="Tenorite"/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Path to lifelong service and leadership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Many Rotary leaders started in Rotaract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90957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51A7D-1A9B-9616-7410-8C17F037A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11B0CC8-5783-3DC8-83B7-478BEA4E66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7. Empowers Youth to Lead Social Change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2A837A-D6CD-D550-FFE7-3390867F3537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Age is not a barrier to impact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Platform for creativity, innovation, and courage</a:t>
            </a:r>
            <a:endParaRPr lang="en-US" dirty="0"/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Youth are the heartbeat of transformation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723140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D772E-C0F0-EA02-E517-E1D3F8509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91DAD05-6627-E4BB-31C3-9953F0B1D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Quote to Remember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AF0E8-3CBF-0E5C-D39E-05F36FA828ED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“Rotaract doesn’t just create leaders of tomorrow.</a:t>
            </a:r>
            <a:endParaRPr lang="en-US" dirty="0">
              <a:ea typeface="Calibri"/>
              <a:cs typeface="Calibri"/>
            </a:endParaRPr>
          </a:p>
          <a:p>
            <a:pPr indent="-283210"/>
            <a:r>
              <a:rPr lang="en-US" sz="320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It empowers leaders of today.”</a:t>
            </a:r>
            <a:endParaRPr lang="en-US" dirty="0"/>
          </a:p>
          <a:p>
            <a:pPr indent="-283210"/>
            <a:endParaRPr lang="en-US" sz="320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251992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BD305-6A2E-C7FC-BB0C-01EE564DE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961FE9D-1459-D637-ED48-503F39337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1831" y="5450971"/>
            <a:ext cx="10555560" cy="939477"/>
          </a:xfrm>
        </p:spPr>
        <p:txBody>
          <a:bodyPr/>
          <a:lstStyle/>
          <a:p>
            <a:r>
              <a:rPr lang="en-US" sz="4400" dirty="0">
                <a:solidFill>
                  <a:srgbClr val="000000"/>
                </a:solidFill>
                <a:latin typeface="Times New Roman"/>
                <a:ea typeface="Calibri"/>
                <a:cs typeface="Times New Roman"/>
              </a:rPr>
              <a:t>Our Duties &amp; Responsibilities to Society</a:t>
            </a:r>
            <a:br>
              <a:rPr lang="en-US" sz="4400" dirty="0">
                <a:latin typeface="Times New Roman"/>
                <a:ea typeface="Calibri"/>
                <a:cs typeface="Times New Roman"/>
              </a:rPr>
            </a:br>
            <a:br>
              <a:rPr lang="en-US" sz="4400" dirty="0">
                <a:latin typeface="Times New Roman"/>
                <a:ea typeface="Calibri"/>
                <a:cs typeface="Times New Roman"/>
              </a:rPr>
            </a:br>
            <a:r>
              <a:rPr lang="ne" sz="44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हाम्रो</a:t>
            </a:r>
            <a:r>
              <a:rPr lang="ne" sz="44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44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कर्तव्य</a:t>
            </a:r>
            <a:r>
              <a:rPr lang="ne" sz="44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44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र</a:t>
            </a:r>
            <a:r>
              <a:rPr lang="ne" sz="44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44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जिम्मेवारी</a:t>
            </a:r>
            <a:r>
              <a:rPr lang="ne" sz="44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4400" dirty="0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समाजप्रति</a:t>
            </a:r>
            <a:br>
              <a:rPr lang="ne" sz="4400" dirty="0">
                <a:latin typeface="Nirmala UI"/>
                <a:ea typeface="Nirmala UI"/>
                <a:cs typeface="Nirmala UI"/>
              </a:rPr>
            </a:br>
            <a:endParaRPr lang="en-US" sz="4400" b="0">
              <a:latin typeface="Nirmala UI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32419279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763D-53A2-C574-41D2-1F31286A7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CD9E7-B4A2-5B1C-C542-268C00B17749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749869" y="812411"/>
            <a:ext cx="9780587" cy="343693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9690" indent="0">
              <a:buNone/>
            </a:pP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As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Rotaractors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,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we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commit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to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serve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and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lead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for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a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better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society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.</a:t>
            </a:r>
            <a:endParaRPr lang="en-US" sz="3200" b="1">
              <a:solidFill>
                <a:srgbClr val="FFFFFF"/>
              </a:solidFill>
              <a:latin typeface="Tenorite"/>
              <a:ea typeface="Calibri"/>
              <a:cs typeface="Calibri"/>
            </a:endParaRPr>
          </a:p>
          <a:p>
            <a:pPr marL="59690" indent="0">
              <a:buNone/>
            </a:pPr>
            <a:br>
              <a:rPr lang="ne" sz="3200" b="1" dirty="0">
                <a:latin typeface="Nirmala UI"/>
                <a:ea typeface="Nirmala UI"/>
                <a:cs typeface="Nirmala UI"/>
              </a:rPr>
            </a:b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 </a:t>
            </a:r>
            <a:r>
              <a:rPr lang="ne" sz="3200" b="1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रोटरयाक्टर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भएर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हामी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समाजको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सुधारका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लागि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सेवा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र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नेतृत्व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गर्ने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प्रतिबद्धता</a:t>
            </a:r>
            <a:r>
              <a:rPr lang="ne" sz="3200" b="1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b="1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गर्छौं।</a:t>
            </a:r>
            <a:endParaRPr lang="en-US" sz="3200" b="1">
              <a:solidFill>
                <a:srgbClr val="FFFFFF"/>
              </a:solidFill>
              <a:latin typeface="Tenorite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12463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30AE4-B998-2558-7DE5-6BFBC7DBC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4CC2ADE-0466-E379-8263-CD75F7CF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1.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Be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a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Role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Model</a:t>
            </a:r>
            <a:br>
              <a:rPr lang="ne" sz="2400" dirty="0">
                <a:latin typeface="Times New Roman"/>
                <a:ea typeface="Calibri"/>
                <a:cs typeface="Calibri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१. उदाहरणीय बन्नुहोस्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4BC97-FE2D-3177-BF86-3021945DD6A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endParaRPr lang="ne" sz="2800" b="1" dirty="0">
              <a:solidFill>
                <a:srgbClr val="000000"/>
              </a:solidFill>
              <a:latin typeface="Tenorite"/>
              <a:ea typeface="Calibri"/>
              <a:cs typeface="Calibri"/>
            </a:endParaRPr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Practice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integrity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,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kindness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,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accountability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सदाचार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, 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दया र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जवाफदेहिताको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अभ्यास गर्नुहोस्</a:t>
            </a:r>
            <a:endParaRPr lang="ne" sz="2800"/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Inspire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others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through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actions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आचरणबाट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अरुलाई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प्रेरणा दिनुहोस्</a:t>
            </a:r>
            <a:endParaRPr lang="ne" sz="2800"/>
          </a:p>
          <a:p>
            <a:pPr indent="-283210"/>
            <a:endParaRPr lang="ne" sz="2800" dirty="0">
              <a:solidFill>
                <a:srgbClr val="000000"/>
              </a:solidFill>
              <a:latin typeface="Nirmala UI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29145993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3BC7B-6F5A-0C7F-60C1-CA6C82838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CBE4BA4-476A-5A79-115E-846720465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0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2. </a:t>
            </a:r>
            <a:r>
              <a:rPr lang="ne" sz="20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Apply</a:t>
            </a:r>
            <a:r>
              <a:rPr lang="ne" sz="20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0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Skills</a:t>
            </a:r>
            <a:r>
              <a:rPr lang="ne" sz="20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0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for</a:t>
            </a:r>
            <a:r>
              <a:rPr lang="ne" sz="20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0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Social</a:t>
            </a:r>
            <a:r>
              <a:rPr lang="ne" sz="20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0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Good</a:t>
            </a:r>
            <a:br>
              <a:rPr lang="ne" sz="2000" dirty="0">
                <a:latin typeface="Times New Roman"/>
                <a:ea typeface="Calibri"/>
                <a:cs typeface="Calibri"/>
              </a:rPr>
            </a:br>
            <a:r>
              <a:rPr lang="ne" sz="20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0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२. सामाजिक हितका लागि सीप प्रयोग गर्नुहोस्</a:t>
            </a:r>
            <a:endParaRPr lang="en-US" sz="2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E021A-CC95-8FE1-9CEE-7EEDA93D9674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endParaRPr lang="ne" sz="2800" b="1" dirty="0">
              <a:solidFill>
                <a:srgbClr val="000000"/>
              </a:solidFill>
              <a:latin typeface="Tenorite"/>
              <a:ea typeface="Calibri"/>
              <a:cs typeface="Calibri"/>
            </a:endParaRPr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Use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leadership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management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skills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नेतृत्व र व्यवस्थापन सीप प्रयोग गर्नुहोस्</a:t>
            </a:r>
            <a:endParaRPr lang="ne" sz="2800">
              <a:ea typeface="+mn-lt"/>
              <a:cs typeface="+mn-lt"/>
            </a:endParaRPr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Solve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real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community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problems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वास्तविक सामाजिक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समस्याहरु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समाधान गर्नुहोस्</a:t>
            </a:r>
            <a:endParaRPr lang="ne" sz="2800"/>
          </a:p>
          <a:p>
            <a:pPr indent="-283210"/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267736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CCB24-C9E1-ED18-DE84-473C95DA6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62A1AE7-3A00-ED59-7AF9-B5ABC2E1F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3.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Raise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Awareness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&amp;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Educate</a:t>
            </a:r>
            <a:br>
              <a:rPr lang="ne" sz="2400" dirty="0">
                <a:latin typeface="Times New Roman"/>
                <a:ea typeface="Calibri"/>
                <a:cs typeface="Calibri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३. चेतना अभिवृद्धि र शिक्षा प्रदान गर्नुहोस्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9F76D1-5A27-B20C-5C06-76BE4339F921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endParaRPr lang="ne" sz="2800" b="1" dirty="0">
              <a:solidFill>
                <a:srgbClr val="000000"/>
              </a:solidFill>
              <a:ea typeface="+mn-lt"/>
              <a:cs typeface="+mn-lt"/>
            </a:endParaRPr>
          </a:p>
          <a:p>
            <a:pPr indent="-283210"/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Promote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health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,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environment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,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education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awareness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स्वास्थ्य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वातावरण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शिक्षा सम्बन्धी चेतना फैलाउनुहोस्</a:t>
            </a:r>
            <a:endParaRPr lang="ne" sz="2800"/>
          </a:p>
          <a:p>
            <a:pPr indent="-283210"/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Be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the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voice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for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communities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समुदायको आवाज बन्नुहोस्</a:t>
            </a:r>
            <a:endParaRPr lang="ne" sz="2800"/>
          </a:p>
          <a:p>
            <a:pPr indent="-283210"/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15851555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3B042-7F00-9CB9-75C7-27B3C5A80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D76C434-88E9-4F82-745C-58FB5298F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4.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Promote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Peace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and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Tolerance</a:t>
            </a:r>
            <a:br>
              <a:rPr lang="ne" sz="2400" dirty="0">
                <a:latin typeface="Times New Roman"/>
                <a:ea typeface="Calibri"/>
                <a:cs typeface="Calibri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४. शान्ति र सहिष्णुतालाई </a:t>
            </a:r>
            <a:r>
              <a:rPr lang="ne" sz="2400" err="1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बढावा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 दिनुहोस्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C2E8A-B9BE-ADE6-6BE2-2D85914E5B5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endParaRPr lang="ne" sz="2800" b="1" dirty="0">
              <a:solidFill>
                <a:srgbClr val="000000"/>
              </a:solidFill>
              <a:ea typeface="+mn-lt"/>
              <a:cs typeface="+mn-lt"/>
            </a:endParaRPr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Stand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against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discrimination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violence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भेदभाव र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हिंसाविरुद्ध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उभिनुहोस्</a:t>
            </a:r>
            <a:endParaRPr lang="ne" sz="2800"/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Foster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unity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dialogue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एकता र संवादको प्रवर्द्धन गर्नुहोस्</a:t>
            </a:r>
            <a:endParaRPr lang="ne" sz="2800"/>
          </a:p>
          <a:p>
            <a:pPr indent="-283210"/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3363329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A0D52-C32B-BBA1-1A7A-D32F9B9F6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B299CD2-67A5-7B9A-20CA-6B632843C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5.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Serve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Without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Expectation</a:t>
            </a:r>
            <a:br>
              <a:rPr lang="ne" sz="2400" dirty="0">
                <a:latin typeface="Times New Roman"/>
                <a:ea typeface="Calibri"/>
                <a:cs typeface="Calibri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५. अपेक्षा बिना सेवा गर्नुहोस्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DB857F-5BF9-6D24-C8D0-7E682346BDA2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Serve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selflessly</a:t>
            </a:r>
            <a:endParaRPr lang="ne" sz="2800" dirty="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निःस्वार्थ सेवा गर्नुहोस्</a:t>
            </a:r>
            <a:endParaRPr lang="ne" sz="2800"/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Follow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‘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Service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Above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Self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’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‘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सेवा स्वार्थ भन्दा माथि’ को पालना गर्नुहोस्</a:t>
            </a:r>
            <a:endParaRPr lang="ne" sz="2800">
              <a:ea typeface="+mn-lt"/>
              <a:cs typeface="+mn-lt"/>
            </a:endParaRPr>
          </a:p>
          <a:p>
            <a:pPr indent="-283210"/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3418797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03841-E334-0B5F-0E86-89B51A92F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F8E3FB4-96C9-0700-E155-A314B7602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6.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Lead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with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Responsibility</a:t>
            </a:r>
            <a:br>
              <a:rPr lang="ne" sz="2400" dirty="0">
                <a:latin typeface="Times New Roman"/>
                <a:ea typeface="Calibri"/>
                <a:cs typeface="Calibri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६. जिम्मेवारीसाथ नेतृत्व गर्नुहोस्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C85C78-975A-987D-8077-DCD4CE8D6A6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Take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initiative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and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be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ethical</a:t>
            </a:r>
            <a:endParaRPr lang="ne" sz="3200"/>
          </a:p>
          <a:p>
            <a:pPr indent="-283210"/>
            <a:r>
              <a:rPr lang="ne" sz="3200" dirty="0">
                <a:solidFill>
                  <a:srgbClr val="000000"/>
                </a:solidFill>
                <a:ea typeface="+mn-lt"/>
                <a:cs typeface="+mn-lt"/>
              </a:rPr>
              <a:t>पहल गर्नुहोस् र नैतिक हुनुहोस्</a:t>
            </a:r>
            <a:endParaRPr lang="ne" sz="3200"/>
          </a:p>
          <a:p>
            <a:pPr indent="-283210"/>
            <a:r>
              <a:rPr lang="ne" sz="32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Ensure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inclusivity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32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sustainability</a:t>
            </a:r>
            <a:endParaRPr lang="ne" sz="3200"/>
          </a:p>
          <a:p>
            <a:pPr indent="-283210"/>
            <a:r>
              <a:rPr lang="ne" sz="3200" err="1">
                <a:solidFill>
                  <a:srgbClr val="000000"/>
                </a:solidFill>
                <a:ea typeface="+mn-lt"/>
                <a:cs typeface="+mn-lt"/>
              </a:rPr>
              <a:t>समावेशी</a:t>
            </a:r>
            <a:r>
              <a:rPr lang="ne" sz="3200" dirty="0">
                <a:solidFill>
                  <a:srgbClr val="000000"/>
                </a:solidFill>
                <a:ea typeface="+mn-lt"/>
                <a:cs typeface="+mn-lt"/>
              </a:rPr>
              <a:t> र दिगो बनाउनुहोस्</a:t>
            </a:r>
            <a:endParaRPr lang="ne" sz="2400" dirty="0"/>
          </a:p>
          <a:p>
            <a:pPr indent="-283210"/>
            <a:endParaRPr lang="ne" sz="12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14943930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42CD6-7CF1-061A-BB2F-69BA996FB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04CFF66-0A47-F3A3-BE6B-2A0CB5896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7.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Be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Environmentally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Conscious</a:t>
            </a:r>
            <a:br>
              <a:rPr lang="ne" sz="2800" dirty="0">
                <a:latin typeface="Times New Roman"/>
                <a:ea typeface="Calibri"/>
                <a:cs typeface="Calibri"/>
              </a:rPr>
            </a:b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७. </a:t>
            </a:r>
            <a:r>
              <a:rPr lang="ne" sz="2800" dirty="0" err="1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वातावरणप्रति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 सचेत हुनुहोस्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6DC7D1-40C0-608D-2708-F28B5028644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Lead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climate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action</a:t>
            </a:r>
            <a:endParaRPr lang="ne" sz="2800">
              <a:solidFill>
                <a:srgbClr val="000000"/>
              </a:solidFill>
              <a:latin typeface="Times New Roman"/>
            </a:endParaRPr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जलवायु कार्यमा नेतृत्व गर्नुहोस्</a:t>
            </a:r>
            <a:endParaRPr lang="ne" sz="2800">
              <a:ea typeface="+mn-lt"/>
              <a:cs typeface="+mn-lt"/>
            </a:endParaRPr>
          </a:p>
          <a:p>
            <a:pPr indent="-283210"/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Organize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cleanups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tree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plantations</a:t>
            </a:r>
            <a:endParaRPr lang="ne" sz="2800" dirty="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सरसफाइ र रुख रोपण कार्यक्रम आयोजना गर्नुहोस्</a:t>
            </a:r>
            <a:endParaRPr lang="ne" sz="2800">
              <a:ea typeface="+mn-lt"/>
              <a:cs typeface="+mn-lt"/>
            </a:endParaRPr>
          </a:p>
          <a:p>
            <a:pPr indent="-283210"/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6918227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0CFF-C00A-26BF-76AD-C5932025D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5602E93-67BB-1D39-5D20-BC0FFBBAB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8.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Bridge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Youth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&amp;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Policy</a:t>
            </a:r>
            <a:br>
              <a:rPr lang="ne" sz="2800" dirty="0">
                <a:latin typeface="Times New Roman"/>
                <a:ea typeface="Calibri"/>
                <a:cs typeface="Calibri"/>
              </a:rPr>
            </a:b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८. युवाहरू र नीतिको बीच पुल बन्नुहोस्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42CEF-ECCA-C142-4B61-FB8326DC9D1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endParaRPr lang="ne" sz="2400" b="1" dirty="0">
              <a:solidFill>
                <a:srgbClr val="000000"/>
              </a:solidFill>
              <a:ea typeface="+mn-lt"/>
              <a:cs typeface="+mn-lt"/>
            </a:endParaRPr>
          </a:p>
          <a:p>
            <a:pPr indent="-283210"/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Advocate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youth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issues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in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governance</a:t>
            </a:r>
            <a:endParaRPr lang="ne" sz="2400" dirty="0"/>
          </a:p>
          <a:p>
            <a:pPr indent="-283210"/>
            <a:r>
              <a:rPr lang="ne" sz="2400" dirty="0">
                <a:solidFill>
                  <a:srgbClr val="000000"/>
                </a:solidFill>
                <a:ea typeface="+mn-lt"/>
                <a:cs typeface="+mn-lt"/>
              </a:rPr>
              <a:t>शासनमा युवाका </a:t>
            </a:r>
            <a:r>
              <a:rPr lang="ne" sz="2400" dirty="0" err="1">
                <a:solidFill>
                  <a:srgbClr val="000000"/>
                </a:solidFill>
                <a:ea typeface="+mn-lt"/>
                <a:cs typeface="+mn-lt"/>
              </a:rPr>
              <a:t>विषयहरु</a:t>
            </a:r>
            <a:r>
              <a:rPr lang="ne" sz="2400" dirty="0">
                <a:solidFill>
                  <a:srgbClr val="000000"/>
                </a:solidFill>
                <a:ea typeface="+mn-lt"/>
                <a:cs typeface="+mn-lt"/>
              </a:rPr>
              <a:t> अघि बढाउनुहोस्</a:t>
            </a:r>
            <a:endParaRPr lang="ne" sz="2400"/>
          </a:p>
          <a:p>
            <a:pPr indent="-283210"/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Help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create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youth-friendly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policies</a:t>
            </a:r>
            <a:endParaRPr lang="ne" sz="2400"/>
          </a:p>
          <a:p>
            <a:pPr indent="-283210"/>
            <a:r>
              <a:rPr lang="ne" sz="2400" dirty="0" err="1">
                <a:solidFill>
                  <a:srgbClr val="000000"/>
                </a:solidFill>
                <a:ea typeface="+mn-lt"/>
                <a:cs typeface="+mn-lt"/>
              </a:rPr>
              <a:t>युवामैत्री</a:t>
            </a:r>
            <a:r>
              <a:rPr lang="ne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400" dirty="0" err="1">
                <a:solidFill>
                  <a:srgbClr val="000000"/>
                </a:solidFill>
                <a:ea typeface="+mn-lt"/>
                <a:cs typeface="+mn-lt"/>
              </a:rPr>
              <a:t>नीतिहरु</a:t>
            </a:r>
            <a:r>
              <a:rPr lang="ne" sz="2400" dirty="0">
                <a:solidFill>
                  <a:srgbClr val="000000"/>
                </a:solidFill>
                <a:ea typeface="+mn-lt"/>
                <a:cs typeface="+mn-lt"/>
              </a:rPr>
              <a:t> बनाउन मद्दत गर्नुहोस्</a:t>
            </a:r>
            <a:endParaRPr lang="ne" sz="2400">
              <a:ea typeface="+mn-lt"/>
              <a:cs typeface="+mn-lt"/>
            </a:endParaRPr>
          </a:p>
          <a:p>
            <a:pPr indent="-283210"/>
            <a:endParaRPr lang="ne" sz="24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6363460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6811C9-D611-48C9-185F-6DE534C74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5272EE4-9542-D76E-1FA3-D1FEE0776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9.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Strengthen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Community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Engagement</a:t>
            </a:r>
            <a:br>
              <a:rPr lang="ne" sz="2400" dirty="0">
                <a:latin typeface="Times New Roman"/>
                <a:ea typeface="Calibri"/>
                <a:cs typeface="Calibri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९. समुदायसँगको सहभागिता मजबुत पार्नुहोस्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388FC-269A-2FDC-A79C-85DA0F585A50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endParaRPr lang="ne" sz="2800" b="1" dirty="0">
              <a:solidFill>
                <a:srgbClr val="000000"/>
              </a:solidFill>
              <a:ea typeface="+mn-lt"/>
              <a:cs typeface="+mn-lt"/>
            </a:endParaRPr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Collaborate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with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local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leaders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volunteers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स्थानीय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नेताहरु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र स्वयंसेवकहरूसँग सहकार्य गर्नुहोस्</a:t>
            </a:r>
            <a:endParaRPr lang="ne" sz="2800"/>
          </a:p>
          <a:p>
            <a:pPr indent="-283210"/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Deliver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real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grassroots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solutions</a:t>
            </a:r>
            <a:endParaRPr lang="ne" sz="2800"/>
          </a:p>
          <a:p>
            <a:pPr indent="-283210"/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स्थानीय तहमा वास्तविक समाधान दिनुहोस्</a:t>
            </a:r>
            <a:endParaRPr lang="ne" sz="2800"/>
          </a:p>
          <a:p>
            <a:pPr indent="-283210"/>
            <a:endParaRPr lang="ne" sz="12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14334210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4F98A-1FC6-4CC4-28C4-4F3675700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51C665B-88F9-546F-F206-90B0EDA29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10.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Continue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Growing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to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Serve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Better</a:t>
            </a:r>
            <a:br>
              <a:rPr lang="ne" sz="2400" dirty="0">
                <a:latin typeface="Times New Roman"/>
                <a:ea typeface="Calibri"/>
                <a:cs typeface="Calibri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१०. राम्रो सेवा गर्न निरन्तर विकास गर्नुहोस्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82F07-74A6-CA95-C6E0-38438101C5D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/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Keep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learning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and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improving</a:t>
            </a:r>
            <a:endParaRPr lang="ne" sz="4800" dirty="0" err="1"/>
          </a:p>
          <a:p>
            <a:pPr indent="-283210"/>
            <a:r>
              <a:rPr lang="ne" sz="3200" dirty="0">
                <a:solidFill>
                  <a:srgbClr val="000000"/>
                </a:solidFill>
                <a:ea typeface="+mn-lt"/>
                <a:cs typeface="+mn-lt"/>
              </a:rPr>
              <a:t>निरन्तर सिक्दै अघि बढ्नुहोस्</a:t>
            </a:r>
            <a:endParaRPr lang="ne" sz="4800"/>
          </a:p>
          <a:p>
            <a:pPr indent="-283210"/>
            <a:r>
              <a:rPr lang="ne" sz="32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Personal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32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growth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32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enables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32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effective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32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service</a:t>
            </a:r>
            <a:endParaRPr lang="ne" sz="4800"/>
          </a:p>
          <a:p>
            <a:pPr indent="-283210"/>
            <a:r>
              <a:rPr lang="ne" sz="3200" dirty="0">
                <a:solidFill>
                  <a:srgbClr val="000000"/>
                </a:solidFill>
                <a:ea typeface="+mn-lt"/>
                <a:cs typeface="+mn-lt"/>
              </a:rPr>
              <a:t>व्यक्तिगत विकासले प्रभावकारी सेवा सम्भव पार्छ</a:t>
            </a:r>
            <a:endParaRPr lang="ne" sz="2400" dirty="0"/>
          </a:p>
          <a:p>
            <a:pPr indent="-283210"/>
            <a:endParaRPr lang="ne" sz="12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3910937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687FF-2706-58E7-D5C1-E05F28657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874A18B-D4E1-FDF9-6172-F3A7BC5C8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Closing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 </a:t>
            </a:r>
            <a:r>
              <a:rPr lang="ne" sz="2400" err="1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Thought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Calibri"/>
              </a:rPr>
              <a:t>: 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Calibri"/>
                <a:cs typeface="Calibri"/>
              </a:rPr>
              <a:t>समापन विचार</a:t>
            </a:r>
            <a:endParaRPr lang="en-US" sz="2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3C8B2-9CBF-CCFD-FDD7-74F34160A71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9690" indent="0">
              <a:buNone/>
            </a:pP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“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Being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a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Rotaractor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is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not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a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title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—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it’s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a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commitment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serve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lead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,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and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400" b="1" dirty="0" err="1">
                <a:solidFill>
                  <a:srgbClr val="000000"/>
                </a:solidFill>
                <a:ea typeface="+mn-lt"/>
                <a:cs typeface="+mn-lt"/>
              </a:rPr>
              <a:t>uplift</a:t>
            </a: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.”</a:t>
            </a:r>
            <a:br>
              <a:rPr lang="ne" sz="2400" b="1" dirty="0">
                <a:ea typeface="+mn-lt"/>
                <a:cs typeface="+mn-lt"/>
              </a:rPr>
            </a:br>
            <a:r>
              <a:rPr lang="ne" sz="2400" b="1" dirty="0">
                <a:solidFill>
                  <a:srgbClr val="000000"/>
                </a:solidFill>
                <a:ea typeface="+mn-lt"/>
                <a:cs typeface="+mn-lt"/>
              </a:rPr>
              <a:t> “</a:t>
            </a:r>
            <a:r>
              <a:rPr lang="ne" sz="2400" dirty="0" err="1">
                <a:solidFill>
                  <a:srgbClr val="000000"/>
                </a:solidFill>
                <a:ea typeface="+mn-lt"/>
                <a:cs typeface="+mn-lt"/>
              </a:rPr>
              <a:t>रोटरयाक्टर</a:t>
            </a:r>
            <a:r>
              <a:rPr lang="ne" sz="2400" dirty="0">
                <a:solidFill>
                  <a:srgbClr val="000000"/>
                </a:solidFill>
                <a:ea typeface="+mn-lt"/>
                <a:cs typeface="+mn-lt"/>
              </a:rPr>
              <a:t> हुनु पद होइन - सेवा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400" dirty="0">
                <a:solidFill>
                  <a:srgbClr val="000000"/>
                </a:solidFill>
                <a:ea typeface="+mn-lt"/>
                <a:cs typeface="+mn-lt"/>
              </a:rPr>
              <a:t>नेतृत्व र उत्थान गर्ने प्रतिबद्धता हो।”</a:t>
            </a:r>
            <a:endParaRPr lang="en-US" sz="2400"/>
          </a:p>
          <a:p>
            <a:pPr indent="-283210"/>
            <a:endParaRPr lang="ne" sz="12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2352053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AAD96-ED4E-5CE4-3A8E-167245970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F116E0A-5BA9-8918-FE39-09E3C464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5644" y="2633009"/>
            <a:ext cx="9779183" cy="1600835"/>
          </a:xfrm>
        </p:spPr>
        <p:txBody>
          <a:bodyPr/>
          <a:lstStyle/>
          <a:p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What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is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Rotaract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for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Me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?</a:t>
            </a:r>
            <a:br>
              <a:rPr lang="ne" sz="3200" dirty="0">
                <a:latin typeface="Times New Roman"/>
                <a:ea typeface="Calibri"/>
                <a:cs typeface="Nirmala UI"/>
              </a:rPr>
            </a:br>
            <a:br>
              <a:rPr lang="ne" sz="3200" dirty="0">
                <a:latin typeface="Times New Roman"/>
                <a:ea typeface="Calibri"/>
                <a:cs typeface="Nirmala UI"/>
              </a:rPr>
            </a:b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रोटरयाक्टर</a:t>
            </a:r>
            <a:r>
              <a:rPr lang="ne" sz="32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मेरो</a:t>
            </a:r>
            <a:r>
              <a:rPr lang="ne" sz="32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लागि</a:t>
            </a:r>
            <a:r>
              <a:rPr lang="ne" sz="32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के</a:t>
            </a:r>
            <a:r>
              <a:rPr lang="ne" sz="32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32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हो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</a:rPr>
              <a:t>?</a:t>
            </a:r>
            <a:endParaRPr lang="en-US" sz="3200"/>
          </a:p>
          <a:p>
            <a:endParaRPr lang="ne" sz="5400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970931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04743-CC45-E8C0-012E-860449AF5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AFD1A70-CF8F-8395-CF07-0C3F3EEF9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80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More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Than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a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Club</a:t>
            </a:r>
            <a:br>
              <a:rPr lang="ne" sz="2800" dirty="0">
                <a:latin typeface="Times New Roman"/>
                <a:ea typeface="Nirmala UI"/>
                <a:cs typeface="Nirmala UI"/>
              </a:rPr>
            </a:b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एक</a:t>
            </a:r>
            <a:r>
              <a:rPr lang="ne" sz="2800" dirty="0">
                <a:solidFill>
                  <a:srgbClr val="000000"/>
                </a:solidFill>
                <a:latin typeface="Mangal"/>
                <a:ea typeface="Nirmala UI"/>
                <a:cs typeface="Mangal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क्लब</a:t>
            </a:r>
            <a:r>
              <a:rPr lang="ne" sz="2800" dirty="0">
                <a:solidFill>
                  <a:srgbClr val="000000"/>
                </a:solidFill>
                <a:latin typeface="Mangal"/>
                <a:ea typeface="Nirmala UI"/>
                <a:cs typeface="Mangal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भन्दा</a:t>
            </a:r>
            <a:r>
              <a:rPr lang="ne" sz="2800" dirty="0">
                <a:solidFill>
                  <a:srgbClr val="000000"/>
                </a:solidFill>
                <a:latin typeface="Mangal"/>
                <a:ea typeface="Calibri"/>
                <a:cs typeface="Mangal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Nirmala UI"/>
                <a:ea typeface="Nirmala UI"/>
                <a:cs typeface="Nirmala UI"/>
              </a:rPr>
              <a:t>धेरै</a:t>
            </a:r>
            <a:endParaRPr lang="en-US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AA632-DD85-C2BC-19E6-87ACDB27BF3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>
              <a:buNone/>
            </a:pPr>
            <a:endParaRPr lang="ne" sz="2800" b="1" dirty="0">
              <a:solidFill>
                <a:srgbClr val="000000"/>
              </a:solidFill>
              <a:latin typeface="Nirmala UI"/>
              <a:ea typeface="Nirmala UI"/>
              <a:cs typeface="Nirmala UI"/>
            </a:endParaRPr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family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of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passionate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young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people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जोशिला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युवाहरूको परिवार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community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that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believes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in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making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a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difference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परिवर्तन ल्याउने विश्वास भएको समुदाय</a:t>
            </a:r>
            <a:endParaRPr lang="en-US" sz="2800"/>
          </a:p>
          <a:p>
            <a:pPr marL="59690" indent="0">
              <a:buNone/>
            </a:pPr>
            <a:endParaRPr lang="ne" sz="4800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34353128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4AD1B-FEFE-D82D-66D6-9DD0B9321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034377B-3380-2041-F25C-0CF7732F7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0624" y="462028"/>
            <a:ext cx="9779183" cy="1600835"/>
          </a:xfrm>
        </p:spPr>
        <p:txBody>
          <a:bodyPr/>
          <a:lstStyle/>
          <a:p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A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Platform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for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Growth</a:t>
            </a:r>
            <a:br>
              <a:rPr lang="ne" sz="3200" dirty="0">
                <a:latin typeface="Times New Roman"/>
                <a:ea typeface="Nirmala UI"/>
                <a:cs typeface="Nirmala UI"/>
              </a:rPr>
            </a:br>
            <a:br>
              <a:rPr lang="ne" sz="3200" dirty="0">
                <a:latin typeface="Times New Roman"/>
                <a:ea typeface="Nirmala UI"/>
                <a:cs typeface="Nirmala UI"/>
              </a:rPr>
            </a:b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enorite"/>
                <a:ea typeface="Nirmala UI"/>
                <a:cs typeface="Mangal"/>
              </a:rPr>
              <a:t>बिकासको</a:t>
            </a:r>
            <a:r>
              <a:rPr lang="ne" sz="3200" dirty="0">
                <a:solidFill>
                  <a:srgbClr val="000000"/>
                </a:solidFill>
                <a:latin typeface="Tenorite"/>
                <a:ea typeface="Nirmala UI"/>
                <a:cs typeface="Nirmala UI"/>
              </a:rPr>
              <a:t> प्लेटफर्म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3D51F-88DC-4654-E25B-37BAEFE32F5E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>
              <a:buNone/>
            </a:pPr>
            <a:endParaRPr lang="ne" sz="2800" b="1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Discovering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potential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to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lead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serve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grow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नेतृत्व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सेवा र विकास गर्ने मेरो क्षमता पत्ता लगाउँदै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Learning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values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like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integrity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teamwork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empathy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इमान्दारी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टोलीकार्य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, 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र सहानुभूति जस्ता मूल्यहरू सिक्दै</a:t>
            </a:r>
            <a:endParaRPr lang="en-US" sz="2800"/>
          </a:p>
          <a:p>
            <a:pPr indent="-283210">
              <a:buNone/>
            </a:pPr>
            <a:endParaRPr lang="ne" sz="2800" b="1" dirty="0">
              <a:solidFill>
                <a:srgbClr val="000000"/>
              </a:solidFill>
              <a:latin typeface="Nirmala UI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59995135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172E4-90B6-866C-BDCF-E33268E7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ACB270D-8B21-9618-F4F9-D42C30869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80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An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Opportunity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to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Serve</a:t>
            </a:r>
            <a:br>
              <a:rPr lang="ne" sz="2800" dirty="0">
                <a:latin typeface="Times New Roman"/>
                <a:ea typeface="Nirmala UI"/>
                <a:cs typeface="Nirmala UI"/>
              </a:rPr>
            </a:b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Mangal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Nirmala UI"/>
                <a:cs typeface="Nirmala UI"/>
              </a:rPr>
              <a:t>सेवा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Nirmala UI"/>
                <a:cs typeface="Mangal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Nirmala UI"/>
                <a:cs typeface="Nirmala UI"/>
              </a:rPr>
              <a:t>गर्ने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Calibri"/>
                <a:cs typeface="Mangal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Nirmala UI"/>
                <a:cs typeface="Nirmala UI"/>
              </a:rPr>
              <a:t>अवसर</a:t>
            </a:r>
            <a:endParaRPr lang="en-US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909CC-D4E0-1984-2A81-6F56BD488D4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>
              <a:buNone/>
            </a:pPr>
            <a:endParaRPr lang="ne" sz="2800" b="1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Giving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back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to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community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through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meaningful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projects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महत्वपूर्ण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परियोजनाहरु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मार्फत समुदायलाई फर्काउँदै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Understanding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that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small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acts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create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big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positive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changes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साना कार्यहरूले ठूलो सकारात्मक परिवर्तन ल्याउँछन् भनी बुझ्दै</a:t>
            </a:r>
            <a:endParaRPr lang="en-US" sz="2800"/>
          </a:p>
          <a:p>
            <a:pPr indent="-283210">
              <a:buNone/>
            </a:pPr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33390533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33BB4-8758-BF97-CC80-029A4C66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845A5EB-B53C-E3EA-EB81-2F82A6A54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4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A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Challenge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to</a:t>
            </a: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Improve</a:t>
            </a:r>
            <a:br>
              <a:rPr lang="ne" sz="2400" dirty="0">
                <a:latin typeface="Times New Roman"/>
                <a:ea typeface="Nirmala UI"/>
                <a:cs typeface="Mangal"/>
              </a:rPr>
            </a:br>
            <a:r>
              <a:rPr lang="ne" sz="24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400" dirty="0">
                <a:solidFill>
                  <a:srgbClr val="000000"/>
                </a:solidFill>
                <a:latin typeface="Tenorite"/>
                <a:ea typeface="Nirmala UI"/>
                <a:cs typeface="Nirmala UI"/>
              </a:rPr>
              <a:t>सुधारको चुनौती</a:t>
            </a:r>
            <a:endParaRPr lang="en-US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E922A-7E8B-AED8-33B0-01F1D9D1541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>
              <a:buNone/>
            </a:pPr>
            <a:endParaRPr lang="ne" sz="2800" b="1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Stepping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out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of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comfort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zones</a:t>
            </a:r>
            <a:endParaRPr lang="ne" sz="2800" dirty="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आरामदायक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क्षेत्रबाट बाहिर निस्कनु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Developing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skills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connecting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globally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सीप विकास गर्दै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विश्वसंग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जोडिनु</a:t>
            </a:r>
            <a:endParaRPr lang="en-US" sz="2800"/>
          </a:p>
          <a:p>
            <a:pPr indent="-283210">
              <a:buNone/>
            </a:pPr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17595241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DDC55A-52E3-38CF-E9F6-A4F6BF628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B5B8AA7-A550-676E-0F5D-3D3758ED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A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Journey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to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Become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Better</a:t>
            </a:r>
            <a:br>
              <a:rPr lang="ne" sz="2800" dirty="0">
                <a:latin typeface="Times New Roman"/>
                <a:ea typeface="Nirmala UI"/>
                <a:cs typeface="Nirmala UI"/>
              </a:rPr>
            </a:br>
            <a:r>
              <a:rPr lang="ne" sz="28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2800" dirty="0">
                <a:solidFill>
                  <a:srgbClr val="000000"/>
                </a:solidFill>
                <a:latin typeface="Tenorite"/>
                <a:ea typeface="Nirmala UI"/>
                <a:cs typeface="Nirmala UI"/>
              </a:rPr>
              <a:t>राम्रो बन्ने यात्रा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AD3B0-C132-3729-72A3-640CF6C82116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indent="-283210">
              <a:buNone/>
            </a:pPr>
            <a:endParaRPr lang="ne" sz="2800" b="1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Becoming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a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person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who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serves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selflessly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निःस्वार्थ सेवा गर्ने व्यक्ति बन्नु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Leading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responsibly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inspiring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others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जिम्मेवार नेतृत्व गर्दै </a:t>
            </a:r>
            <a:r>
              <a:rPr lang="ne" sz="2800" err="1">
                <a:solidFill>
                  <a:srgbClr val="000000"/>
                </a:solidFill>
                <a:ea typeface="+mn-lt"/>
                <a:cs typeface="+mn-lt"/>
              </a:rPr>
              <a:t>अरुलाई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प्रेरणा दिनु</a:t>
            </a:r>
            <a:endParaRPr lang="en-US" sz="2800"/>
          </a:p>
          <a:p>
            <a:pPr indent="-283210">
              <a:buNone/>
            </a:pPr>
            <a:endParaRPr lang="ne" sz="28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235084370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BD678-1374-D9C8-239F-D5F6862AB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3C7F5BB-A263-8EEE-AED5-FF42B8058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283210">
              <a:lnSpc>
                <a:spcPct val="90000"/>
              </a:lnSpc>
              <a:spcBef>
                <a:spcPts val="1000"/>
              </a:spcBef>
            </a:pPr>
            <a:endParaRPr lang="ne" sz="3600" dirty="0">
              <a:solidFill>
                <a:srgbClr val="000000"/>
              </a:solidFill>
              <a:latin typeface="Times New Roman"/>
              <a:ea typeface="Calibri"/>
              <a:cs typeface="Nirmala UI"/>
            </a:endParaRPr>
          </a:p>
          <a:p>
            <a:pPr marL="342900" indent="-283210">
              <a:lnSpc>
                <a:spcPct val="90000"/>
              </a:lnSpc>
              <a:spcBef>
                <a:spcPts val="1000"/>
              </a:spcBef>
            </a:pP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30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Minutes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of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your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day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to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Rotaract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endParaRPr lang="ne" sz="3200" dirty="0">
              <a:latin typeface="Times New Roman"/>
              <a:ea typeface="Calibri"/>
              <a:cs typeface="Nirmala U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9130A-878B-09F8-BD8A-554CEAA1851C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indent="-283210">
              <a:buFont typeface="Arial"/>
              <a:buChar char="•"/>
            </a:pP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Understand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the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"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Why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" I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am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In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Rotaract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. </a:t>
            </a:r>
            <a:endParaRPr lang="ne" dirty="0">
              <a:solidFill>
                <a:srgbClr val="FFFFFF"/>
              </a:solidFill>
              <a:ea typeface="+mn-lt"/>
              <a:cs typeface="+mn-lt"/>
            </a:endParaRPr>
          </a:p>
          <a:p>
            <a:pPr indent="-283210">
              <a:buFont typeface="Arial"/>
              <a:buChar char="•"/>
            </a:pPr>
            <a:r>
              <a:rPr lang="ne" sz="2800" b="1" dirty="0" err="1">
                <a:solidFill>
                  <a:srgbClr val="000000"/>
                </a:solidFill>
                <a:ea typeface="+mn-lt"/>
                <a:cs typeface="+mn-lt"/>
              </a:rPr>
              <a:t>Self-Reflection</a:t>
            </a:r>
            <a:r>
              <a:rPr lang="ne" sz="2800" b="1" dirty="0">
                <a:solidFill>
                  <a:srgbClr val="000000"/>
                </a:solidFill>
                <a:ea typeface="+mn-lt"/>
                <a:cs typeface="+mn-lt"/>
              </a:rPr>
              <a:t>: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Consider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your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role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benefits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ne" dirty="0"/>
          </a:p>
          <a:p>
            <a:pPr indent="-283210">
              <a:buFont typeface="Arial"/>
              <a:buChar char="•"/>
            </a:pPr>
            <a:r>
              <a:rPr lang="ne" sz="2800" b="1" dirty="0" err="1">
                <a:solidFill>
                  <a:srgbClr val="000000"/>
                </a:solidFill>
                <a:ea typeface="+mn-lt"/>
                <a:cs typeface="+mn-lt"/>
              </a:rPr>
              <a:t>Service</a:t>
            </a:r>
            <a:r>
              <a:rPr lang="ne" sz="28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b="1" dirty="0" err="1">
                <a:solidFill>
                  <a:srgbClr val="000000"/>
                </a:solidFill>
                <a:ea typeface="+mn-lt"/>
                <a:cs typeface="+mn-lt"/>
              </a:rPr>
              <a:t>Idea</a:t>
            </a:r>
            <a:r>
              <a:rPr lang="ne" sz="2800" b="1" dirty="0">
                <a:solidFill>
                  <a:srgbClr val="000000"/>
                </a:solidFill>
                <a:ea typeface="+mn-lt"/>
                <a:cs typeface="+mn-lt"/>
              </a:rPr>
              <a:t>: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Think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about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a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small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way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to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contribute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ne" dirty="0">
              <a:solidFill>
                <a:srgbClr val="FFFFFF"/>
              </a:solidFill>
              <a:ea typeface="+mn-lt"/>
              <a:cs typeface="+mn-lt"/>
            </a:endParaRPr>
          </a:p>
          <a:p>
            <a:pPr indent="-283210">
              <a:buFont typeface="Arial"/>
              <a:buChar char="•"/>
            </a:pPr>
            <a:r>
              <a:rPr lang="ne" sz="2800" b="1" dirty="0" err="1">
                <a:solidFill>
                  <a:srgbClr val="000000"/>
                </a:solidFill>
                <a:ea typeface="+mn-lt"/>
                <a:cs typeface="+mn-lt"/>
              </a:rPr>
              <a:t>Growth</a:t>
            </a:r>
            <a:r>
              <a:rPr lang="ne" sz="2800" b="1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b="1" dirty="0" err="1">
                <a:solidFill>
                  <a:srgbClr val="000000"/>
                </a:solidFill>
                <a:ea typeface="+mn-lt"/>
                <a:cs typeface="+mn-lt"/>
              </a:rPr>
              <a:t>Point</a:t>
            </a:r>
            <a:r>
              <a:rPr lang="ne" sz="2800" b="1" dirty="0">
                <a:solidFill>
                  <a:srgbClr val="000000"/>
                </a:solidFill>
                <a:ea typeface="+mn-lt"/>
                <a:cs typeface="+mn-lt"/>
              </a:rPr>
              <a:t>: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Identify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one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area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for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personal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ea typeface="+mn-lt"/>
                <a:cs typeface="+mn-lt"/>
              </a:rPr>
              <a:t>development</a:t>
            </a:r>
            <a:r>
              <a:rPr lang="ne" sz="28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ne" sz="2800" dirty="0">
              <a:solidFill>
                <a:srgbClr val="000000"/>
              </a:solidFill>
            </a:endParaRPr>
          </a:p>
          <a:p>
            <a:pPr marL="285750" indent="-285750">
              <a:buFont typeface="Arial"/>
              <a:buChar char="•"/>
            </a:pPr>
            <a:endParaRPr lang="ne" sz="2800" dirty="0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504315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21F47-682F-AC69-E463-38CD48EF2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1DB88BC-958E-8395-64E6-E4BBBF459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342900" indent="-283210">
              <a:lnSpc>
                <a:spcPct val="90000"/>
              </a:lnSpc>
              <a:spcBef>
                <a:spcPts val="1000"/>
              </a:spcBef>
            </a:pPr>
            <a:endParaRPr lang="ne" sz="3600" dirty="0">
              <a:solidFill>
                <a:srgbClr val="000000"/>
              </a:solidFill>
              <a:latin typeface="Times New Roman"/>
              <a:ea typeface="Calibri"/>
              <a:cs typeface="Nirmala UI"/>
            </a:endParaRPr>
          </a:p>
          <a:p>
            <a:pPr marL="342900" indent="-283210">
              <a:lnSpc>
                <a:spcPct val="90000"/>
              </a:lnSpc>
              <a:spcBef>
                <a:spcPts val="1000"/>
              </a:spcBef>
            </a:pP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Since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We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Are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from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Different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Fields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,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Let’s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Promote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One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Another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to</a:t>
            </a:r>
            <a:r>
              <a:rPr lang="ne" sz="3200" dirty="0">
                <a:solidFill>
                  <a:srgbClr val="000000"/>
                </a:solidFill>
                <a:latin typeface="Times New Roman"/>
                <a:ea typeface="Calibri"/>
                <a:cs typeface="Nirmala UI"/>
              </a:rPr>
              <a:t> </a:t>
            </a:r>
            <a:r>
              <a:rPr lang="ne" sz="3200" dirty="0" err="1">
                <a:solidFill>
                  <a:srgbClr val="000000"/>
                </a:solidFill>
                <a:latin typeface="Times New Roman"/>
                <a:ea typeface="Nirmala UI"/>
                <a:cs typeface="Nirmala UI"/>
              </a:rPr>
              <a:t>Grow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A8DE8-2F71-0253-6873-08F9C53223E2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 marL="285750" indent="-285750">
              <a:buFont typeface="Arial"/>
              <a:buChar char="•"/>
            </a:pP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Support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each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other’s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businesses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dirty="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ventures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ne" sz="2800" dirty="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Share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professional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contacts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opportunities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Promote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each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other’s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events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achievements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Collaborate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across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fields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for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mutual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growth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ne" sz="2800"/>
          </a:p>
          <a:p>
            <a:pPr marL="285750" indent="-285750">
              <a:buFont typeface="Arial"/>
              <a:buChar char="•"/>
            </a:pP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Use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Rotaract’s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network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to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boost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visibility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and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 </a:t>
            </a:r>
            <a:r>
              <a:rPr lang="ne" sz="2800" err="1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impact</a:t>
            </a:r>
            <a:r>
              <a:rPr lang="ne" sz="2800" dirty="0">
                <a:solidFill>
                  <a:srgbClr val="000000"/>
                </a:solidFill>
                <a:latin typeface="Times New Roman"/>
                <a:ea typeface="+mn-lt"/>
                <a:cs typeface="+mn-lt"/>
              </a:rPr>
              <a:t>.</a:t>
            </a:r>
            <a:endParaRPr lang="en-US" sz="2800"/>
          </a:p>
          <a:p>
            <a:pPr indent="-283210">
              <a:buNone/>
            </a:pPr>
            <a:endParaRPr lang="ne" sz="5400" b="1" dirty="0">
              <a:solidFill>
                <a:srgbClr val="000000"/>
              </a:solidFill>
              <a:latin typeface="Tenorite"/>
              <a:ea typeface="Nirmala UI"/>
              <a:cs typeface="Nirmala UI"/>
            </a:endParaRPr>
          </a:p>
        </p:txBody>
      </p:sp>
    </p:spTree>
    <p:extLst>
      <p:ext uri="{BB962C8B-B14F-4D97-AF65-F5344CB8AC3E}">
        <p14:creationId xmlns:p14="http://schemas.microsoft.com/office/powerpoint/2010/main" val="3912952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7BB04B7-47A4-741B-59E0-F0E6F2126E8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 err="1"/>
              <a:t>Rtr</a:t>
            </a:r>
            <a:r>
              <a:rPr lang="en-US" dirty="0"/>
              <a:t>. Anil Shrestha </a:t>
            </a:r>
          </a:p>
          <a:p>
            <a:r>
              <a:rPr lang="en-US" dirty="0"/>
              <a:t>+977-9841888908</a:t>
            </a:r>
          </a:p>
          <a:p>
            <a:r>
              <a:rPr lang="en-US" dirty="0">
                <a:solidFill>
                  <a:srgbClr val="000000"/>
                </a:solidFill>
                <a:ea typeface="+mn-lt"/>
                <a:cs typeface="+mn-lt"/>
              </a:rPr>
              <a:t>anil.shrestha@rotaract3292.org</a:t>
            </a:r>
            <a:endParaRPr lang="en-US" dirty="0"/>
          </a:p>
          <a:p>
            <a:r>
              <a:rPr lang="en-US">
                <a:latin typeface="Tenorite"/>
                <a:cs typeface="Times New Roman"/>
              </a:rPr>
              <a:t>www.sabonaautomobile.com.np</a:t>
            </a:r>
            <a:endParaRPr lang="en-US"/>
          </a:p>
        </p:txBody>
      </p:sp>
      <p:pic>
        <p:nvPicPr>
          <p:cNvPr id="2" name="Picture 1" descr="A green and white logo&#10;&#10;AI-generated content may be incorrect.">
            <a:extLst>
              <a:ext uri="{FF2B5EF4-FFF2-40B4-BE49-F238E27FC236}">
                <a16:creationId xmlns:a16="http://schemas.microsoft.com/office/drawing/2014/main" id="{9CC748B3-4133-8E7E-571F-060DB24C8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1672" y="4280137"/>
            <a:ext cx="1668655" cy="133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theme/theme1.xml><?xml version="1.0" encoding="utf-8"?>
<a:theme xmlns:a="http://schemas.openxmlformats.org/drawingml/2006/main" name="VeniceBeachVTI">
  <a:themeElements>
    <a:clrScheme name="VeniceBeachVTI">
      <a:dk1>
        <a:sysClr val="windowText" lastClr="000000"/>
      </a:dk1>
      <a:lt1>
        <a:sysClr val="window" lastClr="FFFFFF"/>
      </a:lt1>
      <a:dk2>
        <a:srgbClr val="2B3E3D"/>
      </a:dk2>
      <a:lt2>
        <a:srgbClr val="FEF3EB"/>
      </a:lt2>
      <a:accent1>
        <a:srgbClr val="FE8542"/>
      </a:accent1>
      <a:accent2>
        <a:srgbClr val="EC6D60"/>
      </a:accent2>
      <a:accent3>
        <a:srgbClr val="CDA32B"/>
      </a:accent3>
      <a:accent4>
        <a:srgbClr val="EE66A7"/>
      </a:accent4>
      <a:accent5>
        <a:srgbClr val="EA5F48"/>
      </a:accent5>
      <a:accent6>
        <a:srgbClr val="C8466B"/>
      </a:accent6>
      <a:hlink>
        <a:srgbClr val="E46153"/>
      </a:hlink>
      <a:folHlink>
        <a:srgbClr val="CF63B0"/>
      </a:folHlink>
    </a:clrScheme>
    <a:fontScheme name="VeniceBeachVTI">
      <a:majorFont>
        <a:latin typeface="Avenir Next LT Pro Light"/>
        <a:ea typeface=""/>
        <a:cs typeface=""/>
      </a:majorFont>
      <a:minorFont>
        <a:latin typeface="Avenir Next LT Pro"/>
        <a:ea typeface=""/>
        <a:cs typeface=""/>
      </a:minorFont>
    </a:fontScheme>
    <a:fmtScheme name="VeniceBeac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eniceBeachVTI" id="{54706E44-6516-4822-8F8F-6BA182D64AC9}" vid="{F71BAAD1-41E5-4D56-97E1-12A04B86E5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CE52C7A-8834-4F18-859F-7167A187E138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2.xml><?xml version="1.0" encoding="utf-8"?>
<ds:datastoreItem xmlns:ds="http://schemas.openxmlformats.org/officeDocument/2006/customXml" ds:itemID="{731D3D4E-040D-4F59-9215-B1F04B81B9F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A7188B1-CB43-4216-A332-EE7733BC2215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1399</Words>
  <Application>Microsoft Office PowerPoint</Application>
  <PresentationFormat>Widescreen</PresentationFormat>
  <Paragraphs>243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4" baseType="lpstr">
      <vt:lpstr>Arial</vt:lpstr>
      <vt:lpstr>Avenir Next LT Pro</vt:lpstr>
      <vt:lpstr>Avenir Next LT Pro Light</vt:lpstr>
      <vt:lpstr>Calibri</vt:lpstr>
      <vt:lpstr>FrankRuehl</vt:lpstr>
      <vt:lpstr>LilyUPC</vt:lpstr>
      <vt:lpstr>Mangal</vt:lpstr>
      <vt:lpstr>Nirmala UI</vt:lpstr>
      <vt:lpstr>Tenorite</vt:lpstr>
      <vt:lpstr>Times New Roman</vt:lpstr>
      <vt:lpstr>VeniceBeachVTI</vt:lpstr>
      <vt:lpstr>Club Officers Training Seminar (COTS) #RotaractCOTS2025 #FutureRotaractLeaders</vt:lpstr>
      <vt:lpstr>RTR. ANIL SHRESTHA</vt:lpstr>
      <vt:lpstr>Table of Contents: </vt:lpstr>
      <vt:lpstr>Welcome, Fellow Rotaractors!</vt:lpstr>
      <vt:lpstr>Where It All Began</vt:lpstr>
      <vt:lpstr>Rotaract Today</vt:lpstr>
      <vt:lpstr>From Galkot to Global</vt:lpstr>
      <vt:lpstr>What Rotaract Taught Me</vt:lpstr>
      <vt:lpstr>The Future is Ours</vt:lpstr>
      <vt:lpstr>Be the Energy!</vt:lpstr>
      <vt:lpstr>Let’s Keep the Fire Burning</vt:lpstr>
      <vt:lpstr>Our National Legacy</vt:lpstr>
      <vt:lpstr>Why Rotaract is Important</vt:lpstr>
      <vt:lpstr>1. Builds Leadership Skills</vt:lpstr>
      <vt:lpstr>2. Encourages Community Service</vt:lpstr>
      <vt:lpstr>3. Creates Global Connections</vt:lpstr>
      <vt:lpstr>4. Promotes Personal Growth</vt:lpstr>
      <vt:lpstr>5. Builds Lifelong Friendships</vt:lpstr>
      <vt:lpstr>6. Acts as a Bridge to Rotary</vt:lpstr>
      <vt:lpstr>7. Empowers Youth to Lead Social Change</vt:lpstr>
      <vt:lpstr>Quote to Remember</vt:lpstr>
      <vt:lpstr>Our Duties &amp; Responsibilities to Society  हाम्रो कर्तव्य र जिम्मेवारी समाजप्रति </vt:lpstr>
      <vt:lpstr>PowerPoint Presentation</vt:lpstr>
      <vt:lpstr>1. Be a Role Model  १. उदाहरणीय बन्नुहोस्</vt:lpstr>
      <vt:lpstr>2. Apply Skills for Social Good  २. सामाजिक हितका लागि सीप प्रयोग गर्नुहोस्</vt:lpstr>
      <vt:lpstr>3. Raise Awareness &amp; Educate  ३. चेतना अभिवृद्धि र शिक्षा प्रदान गर्नुहोस्</vt:lpstr>
      <vt:lpstr>4. Promote Peace and Tolerance  ४. शान्ति र सहिष्णुतालाई बढावा दिनुहोस्</vt:lpstr>
      <vt:lpstr>5. Serve Without Expectation  ५. अपेक्षा बिना सेवा गर्नुहोस्</vt:lpstr>
      <vt:lpstr>6. Lead with Responsibility  ६. जिम्मेवारीसाथ नेतृत्व गर्नुहोस्</vt:lpstr>
      <vt:lpstr>7. Be Environmentally Conscious  ७. वातावरणप्रति सचेत हुनुहोस्</vt:lpstr>
      <vt:lpstr>8. Bridge Youth &amp; Policy  ८. युवाहरू र नीतिको बीच पुल बन्नुहोस्</vt:lpstr>
      <vt:lpstr>9. Strengthen Community Engagement  ९. समुदायसँगको सहभागिता मजबुत पार्नुहोस्</vt:lpstr>
      <vt:lpstr>10. Continue Growing to Serve Better  १०. राम्रो सेवा गर्न निरन्तर विकास गर्नुहोस्</vt:lpstr>
      <vt:lpstr>Closing Thought:  समापन विचार</vt:lpstr>
      <vt:lpstr>What is Rotaract for Me?   रोटरयाक्टर मेरो लागि के हो? </vt:lpstr>
      <vt:lpstr>More Than a Club  एक क्लब भन्दा धेरै</vt:lpstr>
      <vt:lpstr>A Platform for Growth   बिकासको प्लेटफर्म</vt:lpstr>
      <vt:lpstr>An Opportunity to Serve  सेवा गर्ने अवसर</vt:lpstr>
      <vt:lpstr>A Challenge to Improve  सुधारको चुनौती</vt:lpstr>
      <vt:lpstr>A Journey to Become Better  राम्रो बन्ने यात्रा</vt:lpstr>
      <vt:lpstr> 30 Minutes of your day to Rotaract </vt:lpstr>
      <vt:lpstr> Since We Are from Different Fields, Let’s Promote One Another to Grow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 Officers Training Seminar (COTS) #RotaractCOTS2025 #FutureRotaractLeaders</dc:title>
  <dc:creator>NABIN</dc:creator>
  <cp:lastModifiedBy>Dell</cp:lastModifiedBy>
  <cp:revision>322</cp:revision>
  <dcterms:created xsi:type="dcterms:W3CDTF">2025-05-25T07:57:55Z</dcterms:created>
  <dcterms:modified xsi:type="dcterms:W3CDTF">2025-05-28T09:55:33Z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